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חידון על יהושע פרק א׳ בשני חלקים: חידון א׳ על פסוקים א׳–ט׳ וחידון ב׳ על פסוקים י׳–י״ח. בשקף הבא יש תפריט – לחיצה על כפתור קופצת ישר לחידון הרצוי. בכל שקף יש כפתור ״תפריט״ קטן בפינה השמאלית התחתונה לחזרה לתפריט.</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תפריט: במצב הצגה (Slide Show) לחצי על כרטיס כדי לקפוץ לחידון א׳ (פסוקים א׳–ט׳), לחידון ב׳ (פסוקים י׳–י״ח), או לחוקי המשחק. אפשר ללמד חצי פרק, להציג את החידון של אותו חצי, ולחזור לתפריט בכפתור ״תפריט״.</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רעיון לניקוד: חלקי את הכיתה ל־4 קבוצות לפי צבעים ורשמי טבלה על הלוח. בכל שאלה קבוצה אחת עונה בתורה (כ־20 שניות לחשוב יחד). תשובה נכונה = 10 נקודות; אם טעתה – הקבוצה הבאה בתור יכולה לנסות ולקבל 5 נקודות. אפשר גם לתת לכל קבוצה כרטיסי א/ב/ג/ד להרים – וכל קבוצה שצדקה מקבלת נקודות. בסוף כל חידון סופרות ומכריזות על הקבוצה המנצחת.</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חידון א׳ – על פסוקים א׳–ט׳: ה׳ מדבר אל יהושע אחרי פטירת משה ומחזק אותו. הזכירי לבנות את חוקי הניקוד ומי הקבוצה הראשונה.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א׳: ״וַיֹּאמֶר ה׳ אֶל־יְהוֹשֻׁעַ בִּן־נוּן מְשָׁרֵת מֹשֶׁה״. משרת = עוזר ומשמש. יהושע לא זז מהאוהל של משה ולמד ממנו תורה – ולכן הוא זכה להיות המנהיג אחריו. שאלה לכיתה: למה דווקא התלמיד שעזר למשה נבחר להיות המנהיג?</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פסוקים א׳–ב׳: ה׳ מדבר אל יהושע. ״משה עבדי״ – ה׳ קורא למשה ״עבדי״, זה שבח גדול. ״קום עבור את הירדן״ – יהושע מוביל את כל העם אל ארץ ישראל.</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ב׳: ״קוּם עֲבֹר אֶת־הַיַּרְדֵּן הַזֶּה״. אם בחרו ״פרת״ – נהר פרת מוזכר בפסוק ד׳, אבל רק כגבול הארץ (״הנהר הגדול נהר פרת״), לא כנהר שעוברים עכשיו.</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ג׳: ״כָּל־מָקוֹם אֲשֶׁר תִּדְרֹךְ כַּף־רַגְלְכֶם בּוֹ לָכֶם נְתַתִּיו״. כף רגלכם = הרגל שלכם. ״כאשר דיברתי אל משה״ – ה׳ מקיים את מה שהבטיח.</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ה׳: ה׳ מבטיח ליהושע: כמו שהייתי עם משה – אהיה איתך. ״לא ארפך״ = לא ארפה ממך, לא אעזוב אותך. אפשר לשאול: איך מרגישים כשמישהו אומר לנו ״אני איתך״?</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ה׳: ״לֹא־יִתְיַצֵּב אִישׁ לְפָנֶיךָ כֹּל יְמֵי חַיֶּיךָ״. לא יתיצב = לא יעמוד נגדך. ה׳ מבטיח: אף אחד לא ינצח אותך – כל ימי חייך.</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״חזק ואמץ״ מופיע בפסוקים ו׳, ז׳, ט׳. בפסוק ט׳ ה׳ מוסיף: ״אַל־תַּעֲרֹץ וְאַל־תֵּחָת״ = אל תפחד ואל תיבהל, ״כִּי עִמְּךָ ה׳ אֱלֹקֶיךָ בְּכֹל אֲשֶׁר תֵּלֵךְ״. אפשר לשאול: מתי אנחנו צריכות להיות חזקות ואמיצות?</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ו׳: ״חזק ואמץ״, פסוק ז׳: ״רק חזק ואמץ מאד״, פסוק ט׳: ״הלוא ציויתיך חזק ואמץ״. בפסוק ז׳ הנקוד הוא ״וֶאֱמַץ״ (פתח) – כך בפסוק. אם בחרו 4 – אולי ספרו גם את פסוק י״ח, שהוא כבר בחלק השני ושם העם אומר את זה, לא 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ח׳: ״לֹא־יָמוּשׁ סֵפֶר הַתּוֹרָה הַזֶּה מִפִּיךָ״ – אל תפסיק לדבר וללמוד תורה. ״והגית בו יומם ולילה״ – תלמד ותחשוב בו ביום ובלילה. גם מנהיג גדול צריך ללמוד תורה כל הזמן.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ח׳: ״וְהָגִיתָ בּוֹ יוֹמָם וָלַיְלָה... כִּי־אָז תַּצְלִיחַ אֶת־דְּרָכֶךָ וְאָז תַּשְׂכִּיל״. והגית = תלמד ותחשוב. ההבטחה: מי שלומד ושומר את התורה – מצליח בדרכו.</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סיכום חידון א׳: ספרו נקודות והכריזו על הקבוצה המנצחת. כשתלמדו את פסוקים י׳–י״ח – לחצי ״לחידון ב׳״ או חזרי לתפריט.</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חידון ב׳ – על פסוקים י׳–י״ח: יהושע מצווה את העם להתכונן לעבור את הירדן, מדבר עם ראובן, גד וחצי שבט המנשה, והעם עונה לו ״כל אשר צויתנו נעשה״.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פסוקים י׳–י״א: ״וַיְצַו יְהוֹשֻׁעַ אֶת־שֹׁטְרֵי הָעָם״. השוטרים היו האחראים על הסדר בעם. הם עברו ״בקרב המחנה״ = בתוך כל המחנה, ומסרו לכולם את דברי יהושע.</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י״א: ״הָכִינוּ לָכֶם צֵידָה״ – פשוטו: אוכל לדרך (כמו ״צידה לדרך״). יהושע מכין את העם: בעוד שלושה ימים עוברים את הירדן ונכנסים לארץ.</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י״א: ״כִּי בְּעוֹד שְׁלֹשֶׁת יָמִים אַתֶּם עֹבְרִים אֶת־הַיַּרְדֵּן הַזֶּה לָבוֹא לָרֶשֶׁת אֶת־הָאָרֶץ״. לרשת = לקבל את הארץ ולגור בה.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י״ב: ״וְלָראוּבֵנִי וְלַגָּדִי וְלַחֲצִי שֵׁבֶט הַמְנַשֶּׁה אָמַר יְהוֹשֻׁעַ״. כבר בימי משה שבטים אלו ביקשו לגור בעבר הירדן, ומשה הסכים – בתנאי שיעזרו לאחיהם לכבוש את הארץ (פסוק י״ג: ״זכור את הדבר אשר צוה אתכם משה״).</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י״ד: ״נְשֵׁיכֶם טַפְּכֶם וּמִקְנֵיכֶם יֵשְׁבוּ בָּאָרֶץ אֲשֶׁר נָתַן לָכֶם מֹשֶׁה בְּעֵבֶר הַיַּרְדֵּן״. טף = ילדים קטנים, מקנה = בהמות.</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י״ד: ״וְאַתֶּם תַּעַבְרוּ חֲמֻשִׁים לִפְנֵי אֲחֵיכֶם כֹּל גִּבּוֹרֵי הַחַיִל וַעֲזַרְתֶּם אוֹתָם״. הערך: לא עוזבים את האחים לבד – עוזרים להם עד הסוף.</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ט״ו: הם חוזרים לנחלתם רק אחרי שה׳ ״יניח״ (ייתן מנוחה) גם לאחיהם, ״וְיָרְשׁוּ גַם־הֵמָּה אֶת־הָאָרֶץ״. ״ושבתם לארץ ירושתכם״ = ואז תחזרו לארץ שלכם.</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ט״ז: ״וַיַּעֲנוּ אֶת־יְהוֹשֻׁעַ לֵאמֹר כֹּל אֲשֶׁר־צִוִּיתָנוּ נַעֲשֶׂה וְאֶל־כָּל־אֲשֶׁר תִּשְׁלָחֵנוּ נֵלֵךְ״. אפשר להזכיר: כמו ״נעשה ונשמע״ במתן תורה – מקבלים באהבה.</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פסוקים ט״ז–י״ז: ״וַיַּעֲנוּ אֶת־יְהוֹשֻׁעַ״ – העם (השבטים שיהושע דיבר אליהם) עונים ליהושע ומברכים אותו: ״רק יהיה ה׳ אלקיך עמך כאשר היה עם משה״. שימי לב: בפסוק ה׳ ה׳ הבטיח ליהושע ״כאשר הייתי עם משה אהיה עמך״ – ועכשיו העם מברך אותו באותן מילים!</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קראי את השאלה בקול. תני לקבוצה שבתור כ־20 שניות לחשוב יחד ולענות. אחר כך עברי לשקף התשובה.</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פסוק י״ח: העם אומרים ליהושע שמי שלא ישמע לדבריו ייענש, ומסיימים ״רַק חֲזַק וֶאֱמָץ״. סיכום יפה: ה׳ אמר ליהושע ״חזק ואמץ״ (ו׳, ז׳, ט׳) – וגם העם מחזק אותו באותן מילים.</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סיכום: ספרו נקודות והכריזו על הקבוצה המנצחת. אפשר לסיים בשאלה: מה למדנו מהפרק? (ה׳ עם יהושע כמו שהיה עם משה; ללמוד תורה יומם ולילה; לעזור לאחים; חזק ואמץ).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slide" Target="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slide" Target="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slide" Target="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slide" Target="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slide" Target="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slide" Target="slide26.xml"/><Relationship Id="rId4" Type="http://schemas.openxmlformats.org/officeDocument/2006/relationships/slide" Target="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slide" Target="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slide" Target="slid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slide" Target="slide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slide" Target="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slide" Target="slid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slide" Target="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slide" Target="slide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slide" Target="slid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slide" Target="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slide" Target="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slide" Target="slid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slide" Target="slide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slide" Target="slid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slide" Target="slide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slide" Target="slide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slide" Target="slide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slide" Target="slide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slide" Target="slide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slide" Target="slide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slide" Target="slide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slide" Target="slide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slide" Target="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1A5E"/>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FFFFFF"/>
                </a:solidFill>
                <a:latin typeface="Arial"/>
                <a:ea typeface="Arial"/>
                <a:cs typeface="Arial"/>
              </a:rPr>
              <a:t>ב״ה</a:t>
            </a:r>
          </a:p>
        </p:txBody>
      </p:sp>
      <p:sp>
        <p:nvSpPr>
          <p:cNvPr id="3" name="5-Point Star 2"/>
          <p:cNvSpPr/>
          <p:nvPr/>
        </p:nvSpPr>
        <p:spPr>
          <a:xfrm>
            <a:off x="822960" y="731520"/>
            <a:ext cx="914400" cy="91440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10607040" y="822960"/>
            <a:ext cx="731520" cy="73152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1280160" y="4846320"/>
            <a:ext cx="640080" cy="64008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0332720" y="4754880"/>
            <a:ext cx="914400" cy="91440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3108960" y="5669280"/>
            <a:ext cx="411480" cy="411480"/>
          </a:xfrm>
          <a:prstGeom prst="star5">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8595360" y="5669280"/>
            <a:ext cx="411480" cy="411480"/>
          </a:xfrm>
          <a:prstGeom prst="star5">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822960"/>
            <a:ext cx="9448495" cy="914400"/>
          </a:xfrm>
          <a:prstGeom prst="rect">
            <a:avLst/>
          </a:prstGeom>
          <a:noFill/>
        </p:spPr>
        <p:txBody>
          <a:bodyPr wrap="square" tIns="27432" bIns="27432" anchor="ctr">
            <a:spAutoFit/>
          </a:bodyPr>
          <a:lstStyle/>
          <a:p>
            <a:pPr rtl="1" algn="ctr">
              <a:lnSpc>
                <a:spcPct val="100000"/>
              </a:lnSpc>
              <a:spcAft>
                <a:spcPts val="0"/>
              </a:spcAft>
            </a:pPr>
            <a:r>
              <a:rPr sz="3200" b="1" lang="he-IL" altLang="en-US">
                <a:solidFill>
                  <a:srgbClr val="FFC233"/>
                </a:solidFill>
                <a:latin typeface="Arial"/>
                <a:ea typeface="Arial"/>
                <a:cs typeface="Arial"/>
              </a:rPr>
              <a:t>נָבִיא · כִּתָּה ג׳</a:t>
            </a:r>
          </a:p>
        </p:txBody>
      </p:sp>
      <p:sp>
        <p:nvSpPr>
          <p:cNvPr id="10" name="Rounded Rectangle 9"/>
          <p:cNvSpPr/>
          <p:nvPr/>
        </p:nvSpPr>
        <p:spPr>
          <a:xfrm>
            <a:off x="1828800" y="1783080"/>
            <a:ext cx="8534095" cy="2103120"/>
          </a:xfrm>
          <a:prstGeom prst="roundRect">
            <a:avLst>
              <a:gd name="adj" fmla="val 25000"/>
            </a:avLst>
          </a:prstGeom>
          <a:solidFill>
            <a:srgbClr val="F25C9A"/>
          </a:solidFill>
          <a:ln w="762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1783080"/>
            <a:ext cx="8534095" cy="2103120"/>
          </a:xfrm>
          <a:prstGeom prst="rect">
            <a:avLst/>
          </a:prstGeom>
          <a:noFill/>
        </p:spPr>
        <p:txBody>
          <a:bodyPr wrap="square" tIns="27432" bIns="27432" anchor="ctr">
            <a:spAutoFit/>
          </a:bodyPr>
          <a:lstStyle/>
          <a:p>
            <a:pPr rtl="1" algn="ctr">
              <a:lnSpc>
                <a:spcPct val="100000"/>
              </a:lnSpc>
              <a:spcAft>
                <a:spcPts val="0"/>
              </a:spcAft>
            </a:pPr>
            <a:r>
              <a:rPr sz="8400" b="1" lang="he-IL" altLang="en-US">
                <a:solidFill>
                  <a:srgbClr val="FFFFFF"/>
                </a:solidFill>
                <a:latin typeface="Arial"/>
                <a:ea typeface="Arial"/>
                <a:cs typeface="Arial"/>
              </a:rPr>
              <a:t>חִידוֹן יְהוֹשֻׁעַ</a:t>
            </a:r>
          </a:p>
        </p:txBody>
      </p:sp>
      <p:sp>
        <p:nvSpPr>
          <p:cNvPr id="12" name="TextBox 11"/>
          <p:cNvSpPr txBox="1"/>
          <p:nvPr/>
        </p:nvSpPr>
        <p:spPr>
          <a:xfrm>
            <a:off x="1371600" y="4069080"/>
            <a:ext cx="9448495" cy="9144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פֶּרֶק א׳</a:t>
            </a:r>
          </a:p>
        </p:txBody>
      </p:sp>
      <p:sp>
        <p:nvSpPr>
          <p:cNvPr id="13" name="TextBox 12"/>
          <p:cNvSpPr txBox="1"/>
          <p:nvPr/>
        </p:nvSpPr>
        <p:spPr>
          <a:xfrm>
            <a:off x="1371600" y="4983480"/>
            <a:ext cx="9448495" cy="731520"/>
          </a:xfrm>
          <a:prstGeom prst="rect">
            <a:avLst/>
          </a:prstGeom>
          <a:noFill/>
        </p:spPr>
        <p:txBody>
          <a:bodyPr wrap="square" tIns="27432" bIns="27432" anchor="ctr">
            <a:spAutoFit/>
          </a:bodyPr>
          <a:lstStyle/>
          <a:p>
            <a:pPr rtl="1" algn="ctr">
              <a:lnSpc>
                <a:spcPct val="100000"/>
              </a:lnSpc>
              <a:spcAft>
                <a:spcPts val="0"/>
              </a:spcAft>
            </a:pPr>
            <a:r>
              <a:rPr sz="3400" b="1" lang="he-IL" altLang="en-US">
                <a:solidFill>
                  <a:srgbClr val="FFC233"/>
                </a:solidFill>
                <a:latin typeface="Arial"/>
                <a:ea typeface="Arial"/>
                <a:cs typeface="Arial"/>
              </a:rPr>
              <a:t>״חֲזַק וֶאֱמָץ!״</a:t>
            </a:r>
          </a:p>
        </p:txBody>
      </p:sp>
      <p:sp>
        <p:nvSpPr>
          <p:cNvPr id="14" name="Rectangle 13"/>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1005840"/>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9184"/>
            <a:ext cx="11277295" cy="1005840"/>
          </a:xfrm>
          <a:prstGeom prst="rect">
            <a:avLst/>
          </a:prstGeom>
          <a:noFill/>
        </p:spPr>
        <p:txBody>
          <a:bodyPr wrap="square" tIns="27432" bIns="27432" anchor="ctr">
            <a:spAutoFit/>
          </a:bodyPr>
          <a:lstStyle/>
          <a:p>
            <a:pPr rtl="1" algn="ctr">
              <a:lnSpc>
                <a:spcPct val="100000"/>
              </a:lnSpc>
              <a:spcAft>
                <a:spcPts val="0"/>
              </a:spcAft>
            </a:pPr>
            <a:r>
              <a:rPr sz="4600" b="1" lang="he-IL" altLang="en-US">
                <a:solidFill>
                  <a:srgbClr val="FFFFFF"/>
                </a:solidFill>
                <a:latin typeface="Arial"/>
                <a:ea typeface="Arial"/>
                <a:cs typeface="Arial"/>
              </a:rPr>
              <a:t>בַּחֲרִי חִידוֹן</a:t>
            </a:r>
          </a:p>
        </p:txBody>
      </p:sp>
      <p:sp>
        <p:nvSpPr>
          <p:cNvPr id="5" name="Rounded Rectangle 4">
            <a:hlinkClick action="ppaction://hlinksldjump" r:id="rId3"/>
          </p:cNvPr>
          <p:cNvSpPr/>
          <p:nvPr/>
        </p:nvSpPr>
        <p:spPr>
          <a:xfrm>
            <a:off x="8031175" y="1828800"/>
            <a:ext cx="3611880" cy="3840480"/>
          </a:xfrm>
          <a:prstGeom prst="roundRect">
            <a:avLst>
              <a:gd name="adj" fmla="val 15000"/>
            </a:avLst>
          </a:prstGeom>
          <a:solidFill>
            <a:srgbClr val="17A2B8"/>
          </a:solidFill>
          <a:ln w="635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8031175" y="2148840"/>
            <a:ext cx="3611880" cy="1463040"/>
          </a:xfrm>
          <a:prstGeom prst="rect">
            <a:avLst/>
          </a:prstGeom>
          <a:noFill/>
        </p:spPr>
        <p:txBody>
          <a:bodyPr wrap="square" tIns="27432" bIns="27432" anchor="ctr">
            <a:spAutoFit/>
          </a:bodyPr>
          <a:lstStyle/>
          <a:p>
            <a:pPr rtl="1" algn="ctr">
              <a:lnSpc>
                <a:spcPct val="100000"/>
              </a:lnSpc>
              <a:spcAft>
                <a:spcPts val="0"/>
              </a:spcAft>
            </a:pPr>
            <a:r>
              <a:rPr sz="3600" b="1" lang="he-IL" altLang="en-US">
                <a:solidFill>
                  <a:srgbClr val="FFFFFF"/>
                </a:solidFill>
                <a:latin typeface="Arial"/>
                <a:ea typeface="Arial"/>
                <a:cs typeface="Arial"/>
              </a:rPr>
              <a:t>אֵיךְ מְשַׂחֲקוֹת?</a:t>
            </a:r>
          </a:p>
        </p:txBody>
      </p:sp>
      <p:sp>
        <p:nvSpPr>
          <p:cNvPr id="7" name="TextBox 6">
            <a:hlinkClick action="ppaction://hlinksldjump" r:id="rId3"/>
          </p:cNvPr>
          <p:cNvSpPr txBox="1"/>
          <p:nvPr/>
        </p:nvSpPr>
        <p:spPr>
          <a:xfrm>
            <a:off x="8031175" y="3611880"/>
            <a:ext cx="3611880" cy="914400"/>
          </a:xfrm>
          <a:prstGeom prst="rect">
            <a:avLst/>
          </a:prstGeom>
          <a:noFill/>
        </p:spPr>
        <p:txBody>
          <a:bodyPr wrap="square" tIns="27432" bIns="27432" anchor="ctr">
            <a:spAutoFit/>
          </a:bodyPr>
          <a:lstStyle/>
          <a:p>
            <a:pPr rtl="1" algn="ctr">
              <a:lnSpc>
                <a:spcPct val="100000"/>
              </a:lnSpc>
              <a:spcAft>
                <a:spcPts val="0"/>
              </a:spcAft>
            </a:pPr>
            <a:r>
              <a:rPr sz="2800" b="1" lang="he-IL" altLang="en-US">
                <a:solidFill>
                  <a:srgbClr val="FFFFFF"/>
                </a:solidFill>
                <a:latin typeface="Arial"/>
                <a:ea typeface="Arial"/>
                <a:cs typeface="Arial"/>
              </a:rPr>
              <a:t>חֻקֵּי הַמִּשְׂחָק וְנִקּוּד</a:t>
            </a:r>
          </a:p>
        </p:txBody>
      </p:sp>
      <p:sp>
        <p:nvSpPr>
          <p:cNvPr id="8" name="Rounded Rectangle 7">
            <a:hlinkClick action="ppaction://hlinksldjump" r:id="rId3"/>
          </p:cNvPr>
          <p:cNvSpPr/>
          <p:nvPr/>
        </p:nvSpPr>
        <p:spPr>
          <a:xfrm>
            <a:off x="8854135" y="4709160"/>
            <a:ext cx="1965960" cy="5943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3"/>
          </p:cNvPr>
          <p:cNvSpPr txBox="1"/>
          <p:nvPr/>
        </p:nvSpPr>
        <p:spPr>
          <a:xfrm>
            <a:off x="8854135" y="4709160"/>
            <a:ext cx="1965960" cy="594360"/>
          </a:xfrm>
          <a:prstGeom prst="rect">
            <a:avLst/>
          </a:prstGeom>
          <a:noFill/>
        </p:spPr>
        <p:txBody>
          <a:bodyPr wrap="square" lIns="18288" rIns="18288" tIns="27432" bIns="27432" anchor="ctr">
            <a:spAutoFit/>
          </a:bodyPr>
          <a:lstStyle/>
          <a:p>
            <a:pPr rtl="1" algn="ctr">
              <a:lnSpc>
                <a:spcPct val="100000"/>
              </a:lnSpc>
              <a:spcAft>
                <a:spcPts val="0"/>
              </a:spcAft>
            </a:pPr>
            <a:r>
              <a:rPr sz="2000" b="1" lang="he-IL" altLang="en-US">
                <a:solidFill>
                  <a:srgbClr val="17A2B8"/>
                </a:solidFill>
                <a:latin typeface="Arial"/>
                <a:ea typeface="Arial"/>
                <a:cs typeface="Arial"/>
              </a:rPr>
              <a:t>לְחִיצָה ◄</a:t>
            </a:r>
          </a:p>
        </p:txBody>
      </p:sp>
      <p:sp>
        <p:nvSpPr>
          <p:cNvPr id="10" name="Rounded Rectangle 9">
            <a:hlinkClick action="ppaction://hlinksldjump" r:id="rId4"/>
          </p:cNvPr>
          <p:cNvSpPr/>
          <p:nvPr/>
        </p:nvSpPr>
        <p:spPr>
          <a:xfrm>
            <a:off x="4263847" y="1828800"/>
            <a:ext cx="3611880" cy="3840480"/>
          </a:xfrm>
          <a:prstGeom prst="roundRect">
            <a:avLst>
              <a:gd name="adj" fmla="val 15000"/>
            </a:avLst>
          </a:prstGeom>
          <a:solidFill>
            <a:srgbClr val="F25C9A"/>
          </a:solidFill>
          <a:ln w="635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4"/>
          </p:cNvPr>
          <p:cNvSpPr txBox="1"/>
          <p:nvPr/>
        </p:nvSpPr>
        <p:spPr>
          <a:xfrm>
            <a:off x="4263847" y="2148840"/>
            <a:ext cx="3611880" cy="1463040"/>
          </a:xfrm>
          <a:prstGeom prst="rect">
            <a:avLst/>
          </a:prstGeom>
          <a:noFill/>
        </p:spPr>
        <p:txBody>
          <a:bodyPr wrap="square" tIns="27432" bIns="27432" anchor="ctr">
            <a:spAutoFit/>
          </a:bodyPr>
          <a:lstStyle/>
          <a:p>
            <a:pPr rtl="1" algn="ctr">
              <a:lnSpc>
                <a:spcPct val="100000"/>
              </a:lnSpc>
              <a:spcAft>
                <a:spcPts val="0"/>
              </a:spcAft>
            </a:pPr>
            <a:r>
              <a:rPr sz="4600" b="1" lang="he-IL" altLang="en-US">
                <a:solidFill>
                  <a:srgbClr val="FFFFFF"/>
                </a:solidFill>
                <a:latin typeface="Arial"/>
                <a:ea typeface="Arial"/>
                <a:cs typeface="Arial"/>
              </a:rPr>
              <a:t>חִידוֹן א׳</a:t>
            </a:r>
          </a:p>
        </p:txBody>
      </p:sp>
      <p:sp>
        <p:nvSpPr>
          <p:cNvPr id="12" name="TextBox 11">
            <a:hlinkClick action="ppaction://hlinksldjump" r:id="rId4"/>
          </p:cNvPr>
          <p:cNvSpPr txBox="1"/>
          <p:nvPr/>
        </p:nvSpPr>
        <p:spPr>
          <a:xfrm>
            <a:off x="4263847" y="3611880"/>
            <a:ext cx="3611880" cy="914400"/>
          </a:xfrm>
          <a:prstGeom prst="rect">
            <a:avLst/>
          </a:prstGeom>
          <a:noFill/>
        </p:spPr>
        <p:txBody>
          <a:bodyPr wrap="square" tIns="27432" bIns="27432" anchor="ctr">
            <a:spAutoFit/>
          </a:bodyPr>
          <a:lstStyle/>
          <a:p>
            <a:pPr rtl="1" algn="ctr">
              <a:lnSpc>
                <a:spcPct val="100000"/>
              </a:lnSpc>
              <a:spcAft>
                <a:spcPts val="0"/>
              </a:spcAft>
            </a:pPr>
            <a:r>
              <a:rPr sz="2800" b="1" lang="he-IL" altLang="en-US">
                <a:solidFill>
                  <a:srgbClr val="FFFFFF"/>
                </a:solidFill>
                <a:latin typeface="Arial"/>
                <a:ea typeface="Arial"/>
                <a:cs typeface="Arial"/>
              </a:rPr>
              <a:t>פְּסוּקִים א׳–ט׳</a:t>
            </a:r>
          </a:p>
        </p:txBody>
      </p:sp>
      <p:sp>
        <p:nvSpPr>
          <p:cNvPr id="13" name="Rounded Rectangle 12">
            <a:hlinkClick action="ppaction://hlinksldjump" r:id="rId4"/>
          </p:cNvPr>
          <p:cNvSpPr/>
          <p:nvPr/>
        </p:nvSpPr>
        <p:spPr>
          <a:xfrm>
            <a:off x="5086807" y="4709160"/>
            <a:ext cx="1965960" cy="5943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4"/>
          </p:cNvPr>
          <p:cNvSpPr txBox="1"/>
          <p:nvPr/>
        </p:nvSpPr>
        <p:spPr>
          <a:xfrm>
            <a:off x="5086807" y="4709160"/>
            <a:ext cx="1965960" cy="594360"/>
          </a:xfrm>
          <a:prstGeom prst="rect">
            <a:avLst/>
          </a:prstGeom>
          <a:noFill/>
        </p:spPr>
        <p:txBody>
          <a:bodyPr wrap="square" lIns="18288" rIns="18288" tIns="27432" bIns="27432" anchor="ctr">
            <a:spAutoFit/>
          </a:bodyPr>
          <a:lstStyle/>
          <a:p>
            <a:pPr rtl="1" algn="ctr">
              <a:lnSpc>
                <a:spcPct val="100000"/>
              </a:lnSpc>
              <a:spcAft>
                <a:spcPts val="0"/>
              </a:spcAft>
            </a:pPr>
            <a:r>
              <a:rPr sz="2000" b="1" lang="he-IL" altLang="en-US">
                <a:solidFill>
                  <a:srgbClr val="F25C9A"/>
                </a:solidFill>
                <a:latin typeface="Arial"/>
                <a:ea typeface="Arial"/>
                <a:cs typeface="Arial"/>
              </a:rPr>
              <a:t>לְחִיצָה ◄</a:t>
            </a:r>
          </a:p>
        </p:txBody>
      </p:sp>
      <p:sp>
        <p:nvSpPr>
          <p:cNvPr id="15" name="Rounded Rectangle 14">
            <a:hlinkClick action="ppaction://hlinksldjump" r:id="rId5"/>
          </p:cNvPr>
          <p:cNvSpPr/>
          <p:nvPr/>
        </p:nvSpPr>
        <p:spPr>
          <a:xfrm>
            <a:off x="496519" y="1828800"/>
            <a:ext cx="3611880" cy="3840480"/>
          </a:xfrm>
          <a:prstGeom prst="roundRect">
            <a:avLst>
              <a:gd name="adj" fmla="val 15000"/>
            </a:avLst>
          </a:prstGeom>
          <a:solidFill>
            <a:srgbClr val="2F80ED"/>
          </a:solidFill>
          <a:ln w="635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5"/>
          </p:cNvPr>
          <p:cNvSpPr txBox="1"/>
          <p:nvPr/>
        </p:nvSpPr>
        <p:spPr>
          <a:xfrm>
            <a:off x="496519" y="2148840"/>
            <a:ext cx="3611880" cy="1463040"/>
          </a:xfrm>
          <a:prstGeom prst="rect">
            <a:avLst/>
          </a:prstGeom>
          <a:noFill/>
        </p:spPr>
        <p:txBody>
          <a:bodyPr wrap="square" tIns="27432" bIns="27432" anchor="ctr">
            <a:spAutoFit/>
          </a:bodyPr>
          <a:lstStyle/>
          <a:p>
            <a:pPr rtl="1" algn="ctr">
              <a:lnSpc>
                <a:spcPct val="100000"/>
              </a:lnSpc>
              <a:spcAft>
                <a:spcPts val="0"/>
              </a:spcAft>
            </a:pPr>
            <a:r>
              <a:rPr sz="4600" b="1" lang="he-IL" altLang="en-US">
                <a:solidFill>
                  <a:srgbClr val="FFFFFF"/>
                </a:solidFill>
                <a:latin typeface="Arial"/>
                <a:ea typeface="Arial"/>
                <a:cs typeface="Arial"/>
              </a:rPr>
              <a:t>חִידוֹן ב׳</a:t>
            </a:r>
          </a:p>
        </p:txBody>
      </p:sp>
      <p:sp>
        <p:nvSpPr>
          <p:cNvPr id="17" name="TextBox 16">
            <a:hlinkClick action="ppaction://hlinksldjump" r:id="rId5"/>
          </p:cNvPr>
          <p:cNvSpPr txBox="1"/>
          <p:nvPr/>
        </p:nvSpPr>
        <p:spPr>
          <a:xfrm>
            <a:off x="496519" y="3611880"/>
            <a:ext cx="3611880" cy="914400"/>
          </a:xfrm>
          <a:prstGeom prst="rect">
            <a:avLst/>
          </a:prstGeom>
          <a:noFill/>
        </p:spPr>
        <p:txBody>
          <a:bodyPr wrap="square" tIns="27432" bIns="27432" anchor="ctr">
            <a:spAutoFit/>
          </a:bodyPr>
          <a:lstStyle/>
          <a:p>
            <a:pPr rtl="1" algn="ctr">
              <a:lnSpc>
                <a:spcPct val="100000"/>
              </a:lnSpc>
              <a:spcAft>
                <a:spcPts val="0"/>
              </a:spcAft>
            </a:pPr>
            <a:r>
              <a:rPr sz="2800" b="1" lang="he-IL" altLang="en-US">
                <a:solidFill>
                  <a:srgbClr val="FFFFFF"/>
                </a:solidFill>
                <a:latin typeface="Arial"/>
                <a:ea typeface="Arial"/>
                <a:cs typeface="Arial"/>
              </a:rPr>
              <a:t>פְּסוּקִים י׳–י״ח</a:t>
            </a:r>
          </a:p>
        </p:txBody>
      </p:sp>
      <p:sp>
        <p:nvSpPr>
          <p:cNvPr id="18" name="Rounded Rectangle 17">
            <a:hlinkClick action="ppaction://hlinksldjump" r:id="rId5"/>
          </p:cNvPr>
          <p:cNvSpPr/>
          <p:nvPr/>
        </p:nvSpPr>
        <p:spPr>
          <a:xfrm>
            <a:off x="1319479" y="4709160"/>
            <a:ext cx="1965960" cy="5943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action="ppaction://hlinksldjump" r:id="rId5"/>
          </p:cNvPr>
          <p:cNvSpPr txBox="1"/>
          <p:nvPr/>
        </p:nvSpPr>
        <p:spPr>
          <a:xfrm>
            <a:off x="1319479" y="4709160"/>
            <a:ext cx="1965960" cy="594360"/>
          </a:xfrm>
          <a:prstGeom prst="rect">
            <a:avLst/>
          </a:prstGeom>
          <a:noFill/>
        </p:spPr>
        <p:txBody>
          <a:bodyPr wrap="square" lIns="18288" rIns="18288" tIns="27432" bIns="27432" anchor="ctr">
            <a:spAutoFit/>
          </a:bodyPr>
          <a:lstStyle/>
          <a:p>
            <a:pPr rtl="1" algn="ctr">
              <a:lnSpc>
                <a:spcPct val="100000"/>
              </a:lnSpc>
              <a:spcAft>
                <a:spcPts val="0"/>
              </a:spcAft>
            </a:pPr>
            <a:r>
              <a:rPr sz="2000" b="1" lang="he-IL" altLang="en-US">
                <a:solidFill>
                  <a:srgbClr val="2F80ED"/>
                </a:solidFill>
                <a:latin typeface="Arial"/>
                <a:ea typeface="Arial"/>
                <a:cs typeface="Arial"/>
              </a:rPr>
              <a:t>לְחִיצָה ◄</a:t>
            </a:r>
          </a:p>
        </p:txBody>
      </p:sp>
      <p:sp>
        <p:nvSpPr>
          <p:cNvPr id="20" name="TextBox 19"/>
          <p:cNvSpPr txBox="1"/>
          <p:nvPr/>
        </p:nvSpPr>
        <p:spPr>
          <a:xfrm>
            <a:off x="457200" y="5852160"/>
            <a:ext cx="11277295" cy="502920"/>
          </a:xfrm>
          <a:prstGeom prst="rect">
            <a:avLst/>
          </a:prstGeom>
          <a:noFill/>
        </p:spPr>
        <p:txBody>
          <a:bodyPr wrap="square" tIns="27432" bIns="27432" anchor="ctr">
            <a:spAutoFit/>
          </a:bodyPr>
          <a:lstStyle/>
          <a:p>
            <a:pPr rtl="1" algn="ctr">
              <a:lnSpc>
                <a:spcPct val="100000"/>
              </a:lnSpc>
              <a:spcAft>
                <a:spcPts val="0"/>
              </a:spcAft>
            </a:pPr>
            <a:r>
              <a:rPr sz="1800" b="0" lang="he-IL" altLang="en-US">
                <a:solidFill>
                  <a:srgbClr val="8A8F99"/>
                </a:solidFill>
                <a:latin typeface="Arial"/>
                <a:ea typeface="Arial"/>
                <a:cs typeface="Arial"/>
              </a:rPr>
              <a:t>לוֹחֲצִים עַל הַכַּרְטִיס בְּמַצַּב הַצָּגָה</a:t>
            </a:r>
          </a:p>
        </p:txBody>
      </p:sp>
      <p:sp>
        <p:nvSpPr>
          <p:cNvPr id="21" name="Rectangle 20"/>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1005840"/>
          </a:xfrm>
          <a:prstGeom prst="rect">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9184"/>
            <a:ext cx="11277295" cy="1005840"/>
          </a:xfrm>
          <a:prstGeom prst="rect">
            <a:avLst/>
          </a:prstGeom>
          <a:noFill/>
        </p:spPr>
        <p:txBody>
          <a:bodyPr wrap="square" tIns="27432" bIns="27432" anchor="ctr">
            <a:spAutoFit/>
          </a:bodyPr>
          <a:lstStyle/>
          <a:p>
            <a:pPr rtl="1" algn="ctr">
              <a:lnSpc>
                <a:spcPct val="100000"/>
              </a:lnSpc>
              <a:spcAft>
                <a:spcPts val="0"/>
              </a:spcAft>
            </a:pPr>
            <a:r>
              <a:rPr sz="4600" b="1" lang="he-IL" altLang="en-US">
                <a:solidFill>
                  <a:srgbClr val="FFFFFF"/>
                </a:solidFill>
                <a:latin typeface="Arial"/>
                <a:ea typeface="Arial"/>
                <a:cs typeface="Arial"/>
              </a:rPr>
              <a:t>אֵיךְ מְשַׂחֲקוֹת?</a:t>
            </a:r>
          </a:p>
        </p:txBody>
      </p:sp>
      <p:sp>
        <p:nvSpPr>
          <p:cNvPr id="5" name="Oval 4"/>
          <p:cNvSpPr/>
          <p:nvPr/>
        </p:nvSpPr>
        <p:spPr>
          <a:xfrm>
            <a:off x="10865815" y="1600200"/>
            <a:ext cx="749808" cy="749808"/>
          </a:xfrm>
          <a:prstGeom prst="ellipse">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1600200"/>
            <a:ext cx="749808" cy="749808"/>
          </a:xfrm>
          <a:prstGeom prst="rect">
            <a:avLst/>
          </a:prstGeom>
          <a:noFill/>
        </p:spPr>
        <p:txBody>
          <a:bodyPr wrap="square" lIns="0" rIns="0" tIns="27432" bIns="27432" anchor="ctr">
            <a:spAutoFit/>
          </a:bodyPr>
          <a:lstStyle/>
          <a:p>
            <a:pPr rtl="1" algn="ctr">
              <a:lnSpc>
                <a:spcPct val="100000"/>
              </a:lnSpc>
              <a:spcAft>
                <a:spcPts val="0"/>
              </a:spcAft>
            </a:pPr>
            <a:r>
              <a:rPr sz="3000" b="1" lang="he-IL" altLang="en-US">
                <a:solidFill>
                  <a:srgbClr val="FFFFFF"/>
                </a:solidFill>
                <a:latin typeface="Arial"/>
                <a:ea typeface="Arial"/>
                <a:cs typeface="Arial"/>
              </a:rPr>
              <a:t>1</a:t>
            </a:r>
          </a:p>
        </p:txBody>
      </p:sp>
      <p:sp>
        <p:nvSpPr>
          <p:cNvPr id="7" name="TextBox 6"/>
          <p:cNvSpPr txBox="1"/>
          <p:nvPr/>
        </p:nvSpPr>
        <p:spPr>
          <a:xfrm>
            <a:off x="4480560" y="1554480"/>
            <a:ext cx="6293815" cy="841248"/>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23305E"/>
                </a:solidFill>
                <a:latin typeface="Arial"/>
                <a:ea typeface="Arial"/>
                <a:cs typeface="Arial"/>
              </a:rPr>
              <a:t>מִתְחַלְּקוֹת לְ־4 קְבוּצוֹת</a:t>
            </a:r>
          </a:p>
        </p:txBody>
      </p:sp>
      <p:sp>
        <p:nvSpPr>
          <p:cNvPr id="8" name="Oval 7"/>
          <p:cNvSpPr/>
          <p:nvPr/>
        </p:nvSpPr>
        <p:spPr>
          <a:xfrm>
            <a:off x="10865815" y="2514600"/>
            <a:ext cx="749808" cy="749808"/>
          </a:xfrm>
          <a:prstGeom prst="ellipse">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65815" y="2514600"/>
            <a:ext cx="749808" cy="749808"/>
          </a:xfrm>
          <a:prstGeom prst="rect">
            <a:avLst/>
          </a:prstGeom>
          <a:noFill/>
        </p:spPr>
        <p:txBody>
          <a:bodyPr wrap="square" lIns="0" rIns="0" tIns="27432" bIns="27432" anchor="ctr">
            <a:spAutoFit/>
          </a:bodyPr>
          <a:lstStyle/>
          <a:p>
            <a:pPr rtl="1" algn="ctr">
              <a:lnSpc>
                <a:spcPct val="100000"/>
              </a:lnSpc>
              <a:spcAft>
                <a:spcPts val="0"/>
              </a:spcAft>
            </a:pPr>
            <a:r>
              <a:rPr sz="3000" b="1" lang="he-IL" altLang="en-US">
                <a:solidFill>
                  <a:srgbClr val="FFFFFF"/>
                </a:solidFill>
                <a:latin typeface="Arial"/>
                <a:ea typeface="Arial"/>
                <a:cs typeface="Arial"/>
              </a:rPr>
              <a:t>2</a:t>
            </a:r>
          </a:p>
        </p:txBody>
      </p:sp>
      <p:sp>
        <p:nvSpPr>
          <p:cNvPr id="10" name="TextBox 9"/>
          <p:cNvSpPr txBox="1"/>
          <p:nvPr/>
        </p:nvSpPr>
        <p:spPr>
          <a:xfrm>
            <a:off x="4480560" y="2468880"/>
            <a:ext cx="6293815" cy="841248"/>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23305E"/>
                </a:solidFill>
                <a:latin typeface="Arial"/>
                <a:ea typeface="Arial"/>
                <a:cs typeface="Arial"/>
              </a:rPr>
              <a:t>כָּל קְבוּצָה בְּתוֹרָהּ – חוֹשְׁבוֹת יַחַד וְעוֹנוֹת</a:t>
            </a:r>
          </a:p>
        </p:txBody>
      </p:sp>
      <p:sp>
        <p:nvSpPr>
          <p:cNvPr id="11" name="Oval 10"/>
          <p:cNvSpPr/>
          <p:nvPr/>
        </p:nvSpPr>
        <p:spPr>
          <a:xfrm>
            <a:off x="10865815" y="3429000"/>
            <a:ext cx="749808" cy="749808"/>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65815" y="3429000"/>
            <a:ext cx="749808" cy="749808"/>
          </a:xfrm>
          <a:prstGeom prst="rect">
            <a:avLst/>
          </a:prstGeom>
          <a:noFill/>
        </p:spPr>
        <p:txBody>
          <a:bodyPr wrap="square" lIns="0" rIns="0" tIns="27432" bIns="27432" anchor="ctr">
            <a:spAutoFit/>
          </a:bodyPr>
          <a:lstStyle/>
          <a:p>
            <a:pPr rtl="1" algn="ctr">
              <a:lnSpc>
                <a:spcPct val="100000"/>
              </a:lnSpc>
              <a:spcAft>
                <a:spcPts val="0"/>
              </a:spcAft>
            </a:pPr>
            <a:r>
              <a:rPr sz="3000" b="1" lang="he-IL" altLang="en-US">
                <a:solidFill>
                  <a:srgbClr val="FFFFFF"/>
                </a:solidFill>
                <a:latin typeface="Arial"/>
                <a:ea typeface="Arial"/>
                <a:cs typeface="Arial"/>
              </a:rPr>
              <a:t>3</a:t>
            </a:r>
          </a:p>
        </p:txBody>
      </p:sp>
      <p:sp>
        <p:nvSpPr>
          <p:cNvPr id="13" name="TextBox 12"/>
          <p:cNvSpPr txBox="1"/>
          <p:nvPr/>
        </p:nvSpPr>
        <p:spPr>
          <a:xfrm>
            <a:off x="4480560" y="3383280"/>
            <a:ext cx="6293815" cy="841248"/>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23305E"/>
                </a:solidFill>
                <a:latin typeface="Arial"/>
                <a:ea typeface="Arial"/>
                <a:cs typeface="Arial"/>
              </a:rPr>
              <a:t>תְּשׁוּבָה נְכוֹנָה = 10 נְקוּדוֹת</a:t>
            </a:r>
          </a:p>
        </p:txBody>
      </p:sp>
      <p:sp>
        <p:nvSpPr>
          <p:cNvPr id="14" name="Oval 13"/>
          <p:cNvSpPr/>
          <p:nvPr/>
        </p:nvSpPr>
        <p:spPr>
          <a:xfrm>
            <a:off x="10865815" y="4343400"/>
            <a:ext cx="749808" cy="749808"/>
          </a:xfrm>
          <a:prstGeom prst="ellipse">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65815" y="4343400"/>
            <a:ext cx="749808" cy="749808"/>
          </a:xfrm>
          <a:prstGeom prst="rect">
            <a:avLst/>
          </a:prstGeom>
          <a:noFill/>
        </p:spPr>
        <p:txBody>
          <a:bodyPr wrap="square" lIns="0" rIns="0" tIns="27432" bIns="27432" anchor="ctr">
            <a:spAutoFit/>
          </a:bodyPr>
          <a:lstStyle/>
          <a:p>
            <a:pPr rtl="1" algn="ctr">
              <a:lnSpc>
                <a:spcPct val="100000"/>
              </a:lnSpc>
              <a:spcAft>
                <a:spcPts val="0"/>
              </a:spcAft>
            </a:pPr>
            <a:r>
              <a:rPr sz="3000" b="1" lang="he-IL" altLang="en-US">
                <a:solidFill>
                  <a:srgbClr val="FFFFFF"/>
                </a:solidFill>
                <a:latin typeface="Arial"/>
                <a:ea typeface="Arial"/>
                <a:cs typeface="Arial"/>
              </a:rPr>
              <a:t>4</a:t>
            </a:r>
          </a:p>
        </p:txBody>
      </p:sp>
      <p:sp>
        <p:nvSpPr>
          <p:cNvPr id="16" name="TextBox 15"/>
          <p:cNvSpPr txBox="1"/>
          <p:nvPr/>
        </p:nvSpPr>
        <p:spPr>
          <a:xfrm>
            <a:off x="4480560" y="4297680"/>
            <a:ext cx="6293815" cy="841248"/>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23305E"/>
                </a:solidFill>
                <a:latin typeface="Arial"/>
                <a:ea typeface="Arial"/>
                <a:cs typeface="Arial"/>
              </a:rPr>
              <a:t>טָעֲתָה? הַקְּבוּצָה הַבָּאָה יְכוֹלָה לְנַסּוֹת – 5 נְקוּדוֹת</a:t>
            </a:r>
          </a:p>
        </p:txBody>
      </p:sp>
      <p:sp>
        <p:nvSpPr>
          <p:cNvPr id="17" name="Rounded Rectangle 16"/>
          <p:cNvSpPr/>
          <p:nvPr/>
        </p:nvSpPr>
        <p:spPr>
          <a:xfrm>
            <a:off x="411480" y="1554480"/>
            <a:ext cx="3794760" cy="3657600"/>
          </a:xfrm>
          <a:prstGeom prst="roundRect">
            <a:avLst>
              <a:gd name="adj" fmla="val 10000"/>
            </a:avLst>
          </a:prstGeom>
          <a:solidFill>
            <a:srgbClr val="FFFFFF"/>
          </a:solidFill>
          <a:ln w="38100">
            <a:solidFill>
              <a:srgbClr val="17A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1600200"/>
            <a:ext cx="3794760" cy="54864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17A2B8"/>
                </a:solidFill>
                <a:latin typeface="Arial"/>
                <a:ea typeface="Arial"/>
                <a:cs typeface="Arial"/>
              </a:rPr>
              <a:t>לוּחַ הַנְּקוּדוֹת</a:t>
            </a:r>
          </a:p>
        </p:txBody>
      </p:sp>
      <p:sp>
        <p:nvSpPr>
          <p:cNvPr id="19" name="Rounded Rectangle 18"/>
          <p:cNvSpPr/>
          <p:nvPr/>
        </p:nvSpPr>
        <p:spPr>
          <a:xfrm>
            <a:off x="640080" y="2194560"/>
            <a:ext cx="3337560" cy="594360"/>
          </a:xfrm>
          <a:prstGeom prst="roundRect">
            <a:avLst>
              <a:gd name="adj" fmla="val 40000"/>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63040" y="2194560"/>
            <a:ext cx="2468880" cy="594360"/>
          </a:xfrm>
          <a:prstGeom prst="rect">
            <a:avLst/>
          </a:prstGeom>
          <a:noFill/>
        </p:spPr>
        <p:txBody>
          <a:bodyPr wrap="square" tIns="27432" bIns="27432" anchor="ctr">
            <a:spAutoFit/>
          </a:bodyPr>
          <a:lstStyle/>
          <a:p>
            <a:pPr rtl="1" algn="r">
              <a:lnSpc>
                <a:spcPct val="100000"/>
              </a:lnSpc>
              <a:spcAft>
                <a:spcPts val="0"/>
              </a:spcAft>
            </a:pPr>
            <a:r>
              <a:rPr sz="2000" b="1" lang="he-IL" altLang="en-US">
                <a:solidFill>
                  <a:srgbClr val="FFFFFF"/>
                </a:solidFill>
                <a:latin typeface="Arial"/>
                <a:ea typeface="Arial"/>
                <a:cs typeface="Arial"/>
              </a:rPr>
              <a:t>קְבוּצָה אֲדֻמָּה</a:t>
            </a:r>
          </a:p>
        </p:txBody>
      </p:sp>
      <p:sp>
        <p:nvSpPr>
          <p:cNvPr id="21" name="Rounded Rectangle 20"/>
          <p:cNvSpPr/>
          <p:nvPr/>
        </p:nvSpPr>
        <p:spPr>
          <a:xfrm>
            <a:off x="749808" y="2267712"/>
            <a:ext cx="731520" cy="448056"/>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 y="2926080"/>
            <a:ext cx="3337560" cy="594360"/>
          </a:xfrm>
          <a:prstGeom prst="roundRect">
            <a:avLst>
              <a:gd name="adj" fmla="val 40000"/>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63040" y="2926080"/>
            <a:ext cx="2468880" cy="594360"/>
          </a:xfrm>
          <a:prstGeom prst="rect">
            <a:avLst/>
          </a:prstGeom>
          <a:noFill/>
        </p:spPr>
        <p:txBody>
          <a:bodyPr wrap="square" tIns="27432" bIns="27432" anchor="ctr">
            <a:spAutoFit/>
          </a:bodyPr>
          <a:lstStyle/>
          <a:p>
            <a:pPr rtl="1" algn="r">
              <a:lnSpc>
                <a:spcPct val="100000"/>
              </a:lnSpc>
              <a:spcAft>
                <a:spcPts val="0"/>
              </a:spcAft>
            </a:pPr>
            <a:r>
              <a:rPr sz="2000" b="1" lang="he-IL" altLang="en-US">
                <a:solidFill>
                  <a:srgbClr val="FFFFFF"/>
                </a:solidFill>
                <a:latin typeface="Arial"/>
                <a:ea typeface="Arial"/>
                <a:cs typeface="Arial"/>
              </a:rPr>
              <a:t>קְבוּצָה כְּחֻלָּה</a:t>
            </a:r>
          </a:p>
        </p:txBody>
      </p:sp>
      <p:sp>
        <p:nvSpPr>
          <p:cNvPr id="24" name="Rounded Rectangle 23"/>
          <p:cNvSpPr/>
          <p:nvPr/>
        </p:nvSpPr>
        <p:spPr>
          <a:xfrm>
            <a:off x="749808" y="2999232"/>
            <a:ext cx="731520" cy="448056"/>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080" y="3657600"/>
            <a:ext cx="3337560" cy="594360"/>
          </a:xfrm>
          <a:prstGeom prst="roundRect">
            <a:avLst>
              <a:gd name="adj" fmla="val 4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63040" y="3657600"/>
            <a:ext cx="2468880" cy="594360"/>
          </a:xfrm>
          <a:prstGeom prst="rect">
            <a:avLst/>
          </a:prstGeom>
          <a:noFill/>
        </p:spPr>
        <p:txBody>
          <a:bodyPr wrap="square" tIns="27432" bIns="27432" anchor="ctr">
            <a:spAutoFit/>
          </a:bodyPr>
          <a:lstStyle/>
          <a:p>
            <a:pPr rtl="1" algn="r">
              <a:lnSpc>
                <a:spcPct val="100000"/>
              </a:lnSpc>
              <a:spcAft>
                <a:spcPts val="0"/>
              </a:spcAft>
            </a:pPr>
            <a:r>
              <a:rPr sz="2000" b="1" lang="he-IL" altLang="en-US">
                <a:solidFill>
                  <a:srgbClr val="FFFFFF"/>
                </a:solidFill>
                <a:latin typeface="Arial"/>
                <a:ea typeface="Arial"/>
                <a:cs typeface="Arial"/>
              </a:rPr>
              <a:t>קְבוּצָה כְּתֻמָּה</a:t>
            </a:r>
          </a:p>
        </p:txBody>
      </p:sp>
      <p:sp>
        <p:nvSpPr>
          <p:cNvPr id="27" name="Rounded Rectangle 26"/>
          <p:cNvSpPr/>
          <p:nvPr/>
        </p:nvSpPr>
        <p:spPr>
          <a:xfrm>
            <a:off x="749808" y="3730752"/>
            <a:ext cx="731520" cy="448056"/>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 y="4389120"/>
            <a:ext cx="3337560" cy="594360"/>
          </a:xfrm>
          <a:prstGeom prst="roundRect">
            <a:avLst>
              <a:gd name="adj" fmla="val 40000"/>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63040" y="4389120"/>
            <a:ext cx="2468880" cy="594360"/>
          </a:xfrm>
          <a:prstGeom prst="rect">
            <a:avLst/>
          </a:prstGeom>
          <a:noFill/>
        </p:spPr>
        <p:txBody>
          <a:bodyPr wrap="square" tIns="27432" bIns="27432" anchor="ctr">
            <a:spAutoFit/>
          </a:bodyPr>
          <a:lstStyle/>
          <a:p>
            <a:pPr rtl="1" algn="r">
              <a:lnSpc>
                <a:spcPct val="100000"/>
              </a:lnSpc>
              <a:spcAft>
                <a:spcPts val="0"/>
              </a:spcAft>
            </a:pPr>
            <a:r>
              <a:rPr sz="2000" b="1" lang="he-IL" altLang="en-US">
                <a:solidFill>
                  <a:srgbClr val="FFFFFF"/>
                </a:solidFill>
                <a:latin typeface="Arial"/>
                <a:ea typeface="Arial"/>
                <a:cs typeface="Arial"/>
              </a:rPr>
              <a:t>קְבוּצָה סְגֻלָּה</a:t>
            </a:r>
          </a:p>
        </p:txBody>
      </p:sp>
      <p:sp>
        <p:nvSpPr>
          <p:cNvPr id="30" name="Rounded Rectangle 29"/>
          <p:cNvSpPr/>
          <p:nvPr/>
        </p:nvSpPr>
        <p:spPr>
          <a:xfrm>
            <a:off x="749808" y="4462272"/>
            <a:ext cx="731520" cy="448056"/>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11480" y="5440680"/>
            <a:ext cx="11368735" cy="640080"/>
          </a:xfrm>
          <a:prstGeom prst="roundRect">
            <a:avLst>
              <a:gd name="adj" fmla="val 40000"/>
            </a:avLst>
          </a:prstGeom>
          <a:solidFill>
            <a:srgbClr val="FFF1C7"/>
          </a:solidFill>
          <a:ln w="254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5440680"/>
            <a:ext cx="11368735" cy="640080"/>
          </a:xfrm>
          <a:prstGeom prst="rect">
            <a:avLst/>
          </a:prstGeom>
          <a:noFill/>
        </p:spPr>
        <p:txBody>
          <a:bodyPr wrap="square" tIns="27432" bIns="27432" anchor="ctr">
            <a:spAutoFit/>
          </a:bodyPr>
          <a:lstStyle/>
          <a:p>
            <a:pPr rtl="1" algn="ctr">
              <a:lnSpc>
                <a:spcPct val="100000"/>
              </a:lnSpc>
              <a:spcAft>
                <a:spcPts val="0"/>
              </a:spcAft>
            </a:pPr>
            <a:r>
              <a:rPr sz="2600" b="1" lang="he-IL" altLang="en-US">
                <a:solidFill>
                  <a:srgbClr val="23305E"/>
                </a:solidFill>
                <a:latin typeface="Arial"/>
                <a:ea typeface="Arial"/>
                <a:cs typeface="Arial"/>
              </a:rPr>
              <a:t>הַקְּבוּצָה עִם הֲכִי הַרְבֵּה נְקוּדוֹת – מְנַצַּחַת!</a:t>
            </a:r>
          </a:p>
        </p:txBody>
      </p:sp>
      <p:sp>
        <p:nvSpPr>
          <p:cNvPr id="33" name="Rounded Rectangle 32">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5" name="Rectangle 34"/>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1A5E"/>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FFFFFF"/>
                </a:solidFill>
                <a:latin typeface="Arial"/>
                <a:ea typeface="Arial"/>
                <a:cs typeface="Arial"/>
              </a:rPr>
              <a:t>ב״ה</a:t>
            </a:r>
          </a:p>
        </p:txBody>
      </p:sp>
      <p:sp>
        <p:nvSpPr>
          <p:cNvPr id="3" name="5-Point Star 2"/>
          <p:cNvSpPr/>
          <p:nvPr/>
        </p:nvSpPr>
        <p:spPr>
          <a:xfrm>
            <a:off x="914400" y="914400"/>
            <a:ext cx="822960" cy="82296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10424160" y="1188720"/>
            <a:ext cx="640080" cy="64008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1645920" y="5120640"/>
            <a:ext cx="548640" cy="54864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0058400" y="4937760"/>
            <a:ext cx="914400" cy="91440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5760720" y="5760720"/>
            <a:ext cx="411480" cy="411480"/>
          </a:xfrm>
          <a:prstGeom prst="star5">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194560" y="1463040"/>
            <a:ext cx="7802575" cy="2194560"/>
          </a:xfrm>
          <a:prstGeom prst="roundRect">
            <a:avLst>
              <a:gd name="adj" fmla="val 25000"/>
            </a:avLst>
          </a:prstGeom>
          <a:solidFill>
            <a:srgbClr val="F25C9A"/>
          </a:solidFill>
          <a:ln w="762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0" y="1463040"/>
            <a:ext cx="7802575" cy="2194560"/>
          </a:xfrm>
          <a:prstGeom prst="rect">
            <a:avLst/>
          </a:prstGeom>
          <a:noFill/>
        </p:spPr>
        <p:txBody>
          <a:bodyPr wrap="square" tIns="27432" bIns="27432" anchor="ctr">
            <a:spAutoFit/>
          </a:bodyPr>
          <a:lstStyle/>
          <a:p>
            <a:pPr rtl="1" algn="ctr">
              <a:lnSpc>
                <a:spcPct val="100000"/>
              </a:lnSpc>
              <a:spcAft>
                <a:spcPts val="0"/>
              </a:spcAft>
            </a:pPr>
            <a:r>
              <a:rPr sz="8000" b="1" lang="he-IL" altLang="en-US">
                <a:solidFill>
                  <a:srgbClr val="FFFFFF"/>
                </a:solidFill>
                <a:latin typeface="Arial"/>
                <a:ea typeface="Arial"/>
                <a:cs typeface="Arial"/>
              </a:rPr>
              <a:t>חִידוֹן א׳</a:t>
            </a:r>
          </a:p>
        </p:txBody>
      </p:sp>
      <p:sp>
        <p:nvSpPr>
          <p:cNvPr id="10" name="TextBox 9"/>
          <p:cNvSpPr txBox="1"/>
          <p:nvPr/>
        </p:nvSpPr>
        <p:spPr>
          <a:xfrm>
            <a:off x="1371600" y="3886200"/>
            <a:ext cx="9448495" cy="822960"/>
          </a:xfrm>
          <a:prstGeom prst="rect">
            <a:avLst/>
          </a:prstGeom>
          <a:noFill/>
        </p:spPr>
        <p:txBody>
          <a:bodyPr wrap="square" tIns="27432" bIns="27432" anchor="ctr">
            <a:spAutoFit/>
          </a:bodyPr>
          <a:lstStyle/>
          <a:p>
            <a:pPr rtl="1" algn="ctr">
              <a:lnSpc>
                <a:spcPct val="100000"/>
              </a:lnSpc>
              <a:spcAft>
                <a:spcPts val="0"/>
              </a:spcAft>
            </a:pPr>
            <a:r>
              <a:rPr sz="3400" b="1" lang="he-IL" altLang="en-US">
                <a:solidFill>
                  <a:srgbClr val="FFC233"/>
                </a:solidFill>
                <a:latin typeface="Arial"/>
                <a:ea typeface="Arial"/>
                <a:cs typeface="Arial"/>
              </a:rPr>
              <a:t>יְהוֹשֻׁעַ פֶּרֶק א׳ · פְּסוּקִים א׳–ט׳</a:t>
            </a:r>
          </a:p>
        </p:txBody>
      </p:sp>
      <p:sp>
        <p:nvSpPr>
          <p:cNvPr id="11" name="TextBox 10"/>
          <p:cNvSpPr txBox="1"/>
          <p:nvPr/>
        </p:nvSpPr>
        <p:spPr>
          <a:xfrm>
            <a:off x="1371600" y="4663440"/>
            <a:ext cx="9448495" cy="731520"/>
          </a:xfrm>
          <a:prstGeom prst="rect">
            <a:avLst/>
          </a:prstGeom>
          <a:noFill/>
        </p:spPr>
        <p:txBody>
          <a:bodyPr wrap="square" tIns="27432" bIns="27432" anchor="ctr">
            <a:spAutoFit/>
          </a:bodyPr>
          <a:lstStyle/>
          <a:p>
            <a:pPr rtl="1" algn="ctr">
              <a:lnSpc>
                <a:spcPct val="100000"/>
              </a:lnSpc>
              <a:spcAft>
                <a:spcPts val="0"/>
              </a:spcAft>
            </a:pPr>
            <a:r>
              <a:rPr sz="2600" b="0" lang="he-IL" altLang="en-US">
                <a:solidFill>
                  <a:srgbClr val="FFFFFF"/>
                </a:solidFill>
                <a:latin typeface="Arial"/>
                <a:ea typeface="Arial"/>
                <a:cs typeface="Arial"/>
              </a:rPr>
              <a:t>10 שְׁאֵלוֹת · כָּל תְּשׁוּבָה נְכוֹנָה = 10 נְקוּדוֹת</a:t>
            </a:r>
          </a:p>
        </p:txBody>
      </p:sp>
      <p:sp>
        <p:nvSpPr>
          <p:cNvPr id="12" name="Rounded Rectangle 11">
            <a:hlinkClick action="ppaction://hlinksldjump" r:id="rId3"/>
          </p:cNvPr>
          <p:cNvSpPr/>
          <p:nvPr/>
        </p:nvSpPr>
        <p:spPr>
          <a:xfrm>
            <a:off x="228600" y="6236208"/>
            <a:ext cx="1234440" cy="420624"/>
          </a:xfrm>
          <a:prstGeom prst="roundRect">
            <a:avLst>
              <a:gd name="adj" fmla="val 50000"/>
            </a:avLst>
          </a:prstGeom>
          <a:solidFill>
            <a:srgbClr val="2E1A5E"/>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FFFFFF"/>
                </a:solidFill>
                <a:latin typeface="Arial"/>
                <a:ea typeface="Arial"/>
                <a:cs typeface="Arial"/>
              </a:rPr>
              <a:t>⌂ תַּפְרִיט</a:t>
            </a:r>
          </a:p>
        </p:txBody>
      </p:sp>
      <p:sp>
        <p:nvSpPr>
          <p:cNvPr id="14" name="Rectangle 13"/>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1</a:t>
            </a:r>
          </a:p>
        </p:txBody>
      </p:sp>
      <p:sp>
        <p:nvSpPr>
          <p:cNvPr id="5" name="Rounded Rectangle 4"/>
          <p:cNvSpPr/>
          <p:nvPr/>
        </p:nvSpPr>
        <p:spPr>
          <a:xfrm>
            <a:off x="320040" y="429768"/>
            <a:ext cx="4088465" cy="585216"/>
          </a:xfrm>
          <a:prstGeom prst="roundRect">
            <a:avLst>
              <a:gd name="adj" fmla="val 50000"/>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פֵּרוּשׁ מִלִּים</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״יְהוֹשֻׁעַ בִּן־נוּן מְשָׁרֵת מֹשֶׁה״ – מָה זֶה ״מְשָׁרֵת מֹשֶׁה״?</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התלמיד שעזר למשה ושירת אותו</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האח של משה</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השכן של משה</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השומר של המחנה</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1</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״יְהוֹשֻׁעַ בִּן־נוּן מְשָׁרֵת מֹשֶׁה״ – מָה זֶה ״מְשָׁרֵת מֹשֶׁה״?</a:t>
            </a:r>
          </a:p>
        </p:txBody>
      </p:sp>
      <p:sp>
        <p:nvSpPr>
          <p:cNvPr id="11" name="Rounded Rectangle 10"/>
          <p:cNvSpPr/>
          <p:nvPr/>
        </p:nvSpPr>
        <p:spPr>
          <a:xfrm>
            <a:off x="6236208"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התלמיד שעזר למשה ושירת אותו</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האח של משה</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השכן של משה</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השומר של המחנה</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א׳</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וַיְהִי אַחֲרֵי מוֹת מֹשֶׁה עֶבֶד ה׳ וַיֹּאמֶר ה׳ אֶל־יְהוֹשֻׁעַ בִּן־נוּן מְשָׁרֵת מֹשֶׁה לֵאמֹר׃</a:t>
            </a:r>
          </a:p>
          <a:p>
            <a:pPr rtl="1" algn="r">
              <a:lnSpc>
                <a:spcPct val="100000"/>
              </a:lnSpc>
              <a:spcAft>
                <a:spcPts val="0"/>
              </a:spcAft>
            </a:pPr>
            <a:r>
              <a:rPr sz="2200" b="0" lang="he-IL" altLang="en-US">
                <a:solidFill>
                  <a:srgbClr val="2B2B3A"/>
                </a:solidFill>
                <a:latin typeface="Arial"/>
                <a:ea typeface="Arial"/>
                <a:cs typeface="Arial"/>
              </a:rPr>
              <a:t>יהושע היה התלמיד הקרוב של משה – עזר לו ושימש אותו כל הזמן.</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2</a:t>
            </a:r>
          </a:p>
        </p:txBody>
      </p:sp>
      <p:sp>
        <p:nvSpPr>
          <p:cNvPr id="5" name="Rounded Rectangle 4"/>
          <p:cNvSpPr/>
          <p:nvPr/>
        </p:nvSpPr>
        <p:spPr>
          <a:xfrm>
            <a:off x="320040" y="429768"/>
            <a:ext cx="4088465" cy="585216"/>
          </a:xfrm>
          <a:prstGeom prst="roundRect">
            <a:avLst>
              <a:gd name="adj" fmla="val 5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מִי אָמַר לְמִי?</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״מֹשֶׁה עַבְדִּי מֵת וְעַתָּה קוּם עֲבֹר אֶת־הַיַּרְדֵּן הַזֶּה״
מִי אָמַר לְמִי?</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משה ליהושע</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 ליהושע</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יהושע לעם</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העם ליהושע</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2</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״מֹשֶׁה עַבְדִּי מֵת וְעַתָּה קוּם עֲבֹר אֶת־הַיַּרְדֵּן הַזֶּה״
מִי אָמַר לְמִי?</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משה ליהושע</a:t>
            </a:r>
          </a:p>
        </p:txBody>
      </p:sp>
      <p:sp>
        <p:nvSpPr>
          <p:cNvPr id="15" name="Rounded Rectangle 14"/>
          <p:cNvSpPr/>
          <p:nvPr/>
        </p:nvSpPr>
        <p:spPr>
          <a:xfrm>
            <a:off x="457200"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ה׳ ליהושע</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יהושע לעם</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העם ליהושע</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פְּסוּקִים א׳–ב׳</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וַיֹּאמֶר ה׳ אֶל־יְהוֹשֻׁעַ בִּן־נוּן מְשָׁרֵת מֹשֶׁה לֵאמֹר׃</a:t>
            </a:r>
          </a:p>
          <a:p>
            <a:pPr rtl="1" algn="r">
              <a:lnSpc>
                <a:spcPct val="100000"/>
              </a:lnSpc>
              <a:spcAft>
                <a:spcPts val="400"/>
              </a:spcAft>
            </a:pPr>
            <a:r>
              <a:rPr sz="2600" b="1" lang="he-IL" altLang="en-US">
                <a:solidFill>
                  <a:srgbClr val="23305E"/>
                </a:solidFill>
                <a:latin typeface="Arial"/>
                <a:ea typeface="Arial"/>
                <a:cs typeface="Arial"/>
              </a:rPr>
              <a:t>מֹשֶׁה עַבְדִּי מֵת וְעַתָּה קוּם עֲבֹר אֶת־הַיַּרְדֵּן הַזֶּה</a:t>
            </a:r>
          </a:p>
          <a:p>
            <a:pPr rtl="1" algn="r">
              <a:lnSpc>
                <a:spcPct val="100000"/>
              </a:lnSpc>
              <a:spcAft>
                <a:spcPts val="0"/>
              </a:spcAft>
            </a:pPr>
            <a:r>
              <a:rPr sz="2200" b="0" lang="he-IL" altLang="en-US">
                <a:solidFill>
                  <a:srgbClr val="2B2B3A"/>
                </a:solidFill>
                <a:latin typeface="Arial"/>
                <a:ea typeface="Arial"/>
                <a:cs typeface="Arial"/>
              </a:rPr>
              <a:t>אחרי שמשה נפטר, ה׳ דיבר אל יהושע ואמר לו: קום, הגיע הזמן להיכנס לארץ!</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3</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אֵיזֶה נָהָר ה׳ אָמַר לִיהוֹשֻׁעַ וְלָעָם לַעֲבֹר?</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נהר פרת</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נהר הנילוס</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נהר הירדן</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ים סוף</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3</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אֵיזֶה נָהָר ה׳ אָמַר לִיהוֹשֻׁעַ וְלָעָם לַעֲבֹר?</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נהר פרת</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נהר הנילוס</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נהר הירדן</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ים סוף</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ב׳</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קוּם עֲבֹר אֶת־הַיַּרְדֵּן הַזֶּה אַתָּה וְכָל־הָעָם הַזֶּה אֶל־הָאָרֶץ אֲשֶׁר אָנֹכִי נֹתֵן לָהֶם לִבְנֵי יִשְׂרָאֵל׃</a:t>
            </a:r>
          </a:p>
          <a:p>
            <a:pPr rtl="1" algn="r">
              <a:lnSpc>
                <a:spcPct val="100000"/>
              </a:lnSpc>
              <a:spcAft>
                <a:spcPts val="0"/>
              </a:spcAft>
            </a:pPr>
            <a:r>
              <a:rPr sz="2200" b="0" lang="he-IL" altLang="en-US">
                <a:solidFill>
                  <a:srgbClr val="2B2B3A"/>
                </a:solidFill>
                <a:latin typeface="Arial"/>
                <a:ea typeface="Arial"/>
                <a:cs typeface="Arial"/>
              </a:rPr>
              <a:t>הירדן הוא הנהר שבין עבר הירדן לבין ארץ ישראל.</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4</a:t>
            </a:r>
          </a:p>
        </p:txBody>
      </p:sp>
      <p:sp>
        <p:nvSpPr>
          <p:cNvPr id="5" name="Rounded Rectangle 4"/>
          <p:cNvSpPr/>
          <p:nvPr/>
        </p:nvSpPr>
        <p:spPr>
          <a:xfrm>
            <a:off x="320040" y="429768"/>
            <a:ext cx="5313029" cy="585216"/>
          </a:xfrm>
          <a:prstGeom prst="roundRect">
            <a:avLst>
              <a:gd name="adj" fmla="val 50000"/>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313029"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נָכוֹן אוֹ לֹא נָכוֹן?</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ה׳ הִבְטִיחַ: כָּל מָקוֹם שֶׁתִּדְרְכוּ עָלָיו בָּרֶגֶל – אֲנִי נוֹתֵן לָכֶם.</a:t>
            </a:r>
          </a:p>
        </p:txBody>
      </p:sp>
      <p:sp>
        <p:nvSpPr>
          <p:cNvPr id="9" name="Rounded Rectangle 8"/>
          <p:cNvSpPr/>
          <p:nvPr/>
        </p:nvSpPr>
        <p:spPr>
          <a:xfrm>
            <a:off x="6263640" y="3337560"/>
            <a:ext cx="5394960" cy="2514600"/>
          </a:xfrm>
          <a:prstGeom prst="roundRect">
            <a:avLst>
              <a:gd name="adj" fmla="val 20000"/>
            </a:avLst>
          </a:prstGeom>
          <a:solidFill>
            <a:srgbClr val="2F80ED"/>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נָכוֹן</a:t>
            </a:r>
          </a:p>
        </p:txBody>
      </p:sp>
      <p:sp>
        <p:nvSpPr>
          <p:cNvPr id="11" name="Rounded Rectangle 10"/>
          <p:cNvSpPr/>
          <p:nvPr/>
        </p:nvSpPr>
        <p:spPr>
          <a:xfrm>
            <a:off x="548640" y="3337560"/>
            <a:ext cx="5394960" cy="2514600"/>
          </a:xfrm>
          <a:prstGeom prst="roundRect">
            <a:avLst>
              <a:gd name="adj" fmla="val 20000"/>
            </a:avLst>
          </a:prstGeom>
          <a:solidFill>
            <a:srgbClr val="F2994A"/>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לֹא נָכוֹן</a:t>
            </a:r>
          </a:p>
        </p:txBody>
      </p:sp>
      <p:sp>
        <p:nvSpPr>
          <p:cNvPr id="13" name="Rounded Rectangle 12">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15" name="Rectangle 14"/>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4</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ה׳ הִבְטִיחַ: כָּל מָקוֹם שֶׁתִּדְרְכוּ עָלָיו בָּרֶגֶל – אֲנִי נוֹתֵן לָכֶם.</a:t>
            </a:r>
          </a:p>
        </p:txBody>
      </p:sp>
      <p:sp>
        <p:nvSpPr>
          <p:cNvPr id="11" name="Rounded Rectangle 10"/>
          <p:cNvSpPr/>
          <p:nvPr/>
        </p:nvSpPr>
        <p:spPr>
          <a:xfrm>
            <a:off x="6263640" y="2514600"/>
            <a:ext cx="5394960" cy="1463040"/>
          </a:xfrm>
          <a:prstGeom prst="roundRect">
            <a:avLst>
              <a:gd name="adj" fmla="val 20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FFFFFF"/>
                </a:solidFill>
                <a:latin typeface="Arial"/>
                <a:ea typeface="Arial"/>
                <a:cs typeface="Arial"/>
              </a:rPr>
              <a:t>✓  נָכוֹן</a:t>
            </a:r>
          </a:p>
        </p:txBody>
      </p:sp>
      <p:sp>
        <p:nvSpPr>
          <p:cNvPr id="13" name="Rounded Rectangle 12"/>
          <p:cNvSpPr/>
          <p:nvPr/>
        </p:nvSpPr>
        <p:spPr>
          <a:xfrm>
            <a:off x="548640" y="2514600"/>
            <a:ext cx="5394960" cy="1463040"/>
          </a:xfrm>
          <a:prstGeom prst="roundRect">
            <a:avLst>
              <a:gd name="adj" fmla="val 20000"/>
            </a:avLst>
          </a:prstGeom>
          <a:solidFill>
            <a:srgbClr val="D9DCE1"/>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8A8F99"/>
                </a:solidFill>
                <a:latin typeface="Arial"/>
                <a:ea typeface="Arial"/>
                <a:cs typeface="Arial"/>
              </a:rPr>
              <a:t>לֹא נָכוֹן</a:t>
            </a:r>
          </a:p>
        </p:txBody>
      </p:sp>
      <p:sp>
        <p:nvSpPr>
          <p:cNvPr id="15" name="Rounded Rectangle 14"/>
          <p:cNvSpPr/>
          <p:nvPr/>
        </p:nvSpPr>
        <p:spPr>
          <a:xfrm>
            <a:off x="457200" y="4160520"/>
            <a:ext cx="11277295" cy="2011680"/>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42655" y="3941063"/>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42655" y="3941063"/>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ג׳</a:t>
            </a:r>
          </a:p>
        </p:txBody>
      </p:sp>
      <p:sp>
        <p:nvSpPr>
          <p:cNvPr id="18" name="TextBox 17"/>
          <p:cNvSpPr txBox="1"/>
          <p:nvPr/>
        </p:nvSpPr>
        <p:spPr>
          <a:xfrm>
            <a:off x="685800" y="4361688"/>
            <a:ext cx="10820095" cy="1755648"/>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כָּל־מָקוֹם אֲשֶׁר תִּדְרֹךְ כַּף־רַגְלְכֶם בּוֹ לָכֶם נְתַתִּיו כַּאֲשֶׁר דִּבַּרְתִּי אֶל־מֹשֶׁה׃</a:t>
            </a:r>
          </a:p>
          <a:p>
            <a:pPr rtl="1" algn="r">
              <a:lnSpc>
                <a:spcPct val="100000"/>
              </a:lnSpc>
              <a:spcAft>
                <a:spcPts val="0"/>
              </a:spcAft>
            </a:pPr>
            <a:r>
              <a:rPr sz="2200" b="0" lang="he-IL" altLang="en-US">
                <a:solidFill>
                  <a:srgbClr val="2B2B3A"/>
                </a:solidFill>
                <a:latin typeface="Arial"/>
                <a:ea typeface="Arial"/>
                <a:cs typeface="Arial"/>
              </a:rPr>
              <a:t>נכון! כל מקום בארץ ישראל שידרכו עליו – ה׳ נותן להם, כמו שהבטיח למשה.</a:t>
            </a:r>
          </a:p>
        </p:txBody>
      </p:sp>
      <p:sp>
        <p:nvSpPr>
          <p:cNvPr id="19" name="Rounded Rectangle 18">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1" name="Rectangle 20"/>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5</a:t>
            </a:r>
          </a:p>
        </p:txBody>
      </p:sp>
      <p:sp>
        <p:nvSpPr>
          <p:cNvPr id="5" name="Rounded Rectangle 4"/>
          <p:cNvSpPr/>
          <p:nvPr/>
        </p:nvSpPr>
        <p:spPr>
          <a:xfrm>
            <a:off x="320040" y="429768"/>
            <a:ext cx="5925312" cy="585216"/>
          </a:xfrm>
          <a:prstGeom prst="roundRect">
            <a:avLst>
              <a:gd name="adj" fmla="val 50000"/>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925312"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הַשְׁלִימִי אֶת הַפָּסוּק</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״כַּאֲשֶׁר הָיִיתִי עִם־מֹשֶׁה אֶהְיֶה עִמָּךְ
לֹא אַרְפְּךָ וְלֹא ________״</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אֶשְׁכָּחֲךָ</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אֶעֶזְבֶךָּ</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אֲבָרֶכְךָ</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אֶשְׁמָרְךָ</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5</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״כַּאֲשֶׁר הָיִיתִי עִם־מֹשֶׁה אֶהְיֶה עִמָּךְ
לֹא אַרְפְּךָ וְלֹא ________״</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אֶשְׁכָּחֲךָ</a:t>
            </a:r>
          </a:p>
        </p:txBody>
      </p:sp>
      <p:sp>
        <p:nvSpPr>
          <p:cNvPr id="15" name="Rounded Rectangle 14"/>
          <p:cNvSpPr/>
          <p:nvPr/>
        </p:nvSpPr>
        <p:spPr>
          <a:xfrm>
            <a:off x="457200"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אֶעֶזְבֶךָּ</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אֲבָרֶכְךָ</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אֶשְׁמָרְךָ</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ה׳</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כַּאֲשֶׁר הָיִיתִי עִם־מֹשֶׁה אֶהְיֶה עִמָּךְ לֹא אַרְפְּךָ וְלֹא אֶעֶזְבֶךָּ׃</a:t>
            </a:r>
          </a:p>
          <a:p>
            <a:pPr rtl="1" algn="r">
              <a:lnSpc>
                <a:spcPct val="100000"/>
              </a:lnSpc>
              <a:spcAft>
                <a:spcPts val="0"/>
              </a:spcAft>
            </a:pPr>
            <a:r>
              <a:rPr sz="2200" b="0" lang="he-IL" altLang="en-US">
                <a:solidFill>
                  <a:srgbClr val="2B2B3A"/>
                </a:solidFill>
                <a:latin typeface="Arial"/>
                <a:ea typeface="Arial"/>
                <a:cs typeface="Arial"/>
              </a:rPr>
              <a:t>לֹא אַרְפְּךָ וְלֹא אֶעֶזְבֶךָּ = לא אעזוב אותך. ה׳ יהיה תמיד עם יהושע.</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6</a:t>
            </a:r>
          </a:p>
        </p:txBody>
      </p:sp>
      <p:sp>
        <p:nvSpPr>
          <p:cNvPr id="5" name="Rounded Rectangle 4"/>
          <p:cNvSpPr/>
          <p:nvPr/>
        </p:nvSpPr>
        <p:spPr>
          <a:xfrm>
            <a:off x="320040" y="429768"/>
            <a:ext cx="5313029" cy="585216"/>
          </a:xfrm>
          <a:prstGeom prst="roundRect">
            <a:avLst>
              <a:gd name="adj" fmla="val 50000"/>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313029"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נָכוֹן אוֹ לֹא נָכוֹן?</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ה׳ אָמַר לִיהוֹשֻׁעַ: אַף אֶחָד לֹא יוּכַל לַעֲמֹד נֶגְדְּךָ – רַק בַּשָּׁנָה הָרִאשׁוֹנָה.</a:t>
            </a:r>
          </a:p>
        </p:txBody>
      </p:sp>
      <p:sp>
        <p:nvSpPr>
          <p:cNvPr id="9" name="Rounded Rectangle 8"/>
          <p:cNvSpPr/>
          <p:nvPr/>
        </p:nvSpPr>
        <p:spPr>
          <a:xfrm>
            <a:off x="6263640" y="3337560"/>
            <a:ext cx="5394960" cy="2514600"/>
          </a:xfrm>
          <a:prstGeom prst="roundRect">
            <a:avLst>
              <a:gd name="adj" fmla="val 20000"/>
            </a:avLst>
          </a:prstGeom>
          <a:solidFill>
            <a:srgbClr val="2F80ED"/>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נָכוֹן</a:t>
            </a:r>
          </a:p>
        </p:txBody>
      </p:sp>
      <p:sp>
        <p:nvSpPr>
          <p:cNvPr id="11" name="Rounded Rectangle 10"/>
          <p:cNvSpPr/>
          <p:nvPr/>
        </p:nvSpPr>
        <p:spPr>
          <a:xfrm>
            <a:off x="548640" y="3337560"/>
            <a:ext cx="5394960" cy="2514600"/>
          </a:xfrm>
          <a:prstGeom prst="roundRect">
            <a:avLst>
              <a:gd name="adj" fmla="val 20000"/>
            </a:avLst>
          </a:prstGeom>
          <a:solidFill>
            <a:srgbClr val="F2994A"/>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לֹא נָכוֹן</a:t>
            </a:r>
          </a:p>
        </p:txBody>
      </p:sp>
      <p:sp>
        <p:nvSpPr>
          <p:cNvPr id="13" name="Rounded Rectangle 12">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15" name="Rectangle 14"/>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6</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ה׳ אָמַר לִיהוֹשֻׁעַ: אַף אֶחָד לֹא יוּכַל לַעֲמֹד נֶגְדְּךָ – רַק בַּשָּׁנָה הָרִאשׁוֹנָה.</a:t>
            </a:r>
          </a:p>
        </p:txBody>
      </p:sp>
      <p:sp>
        <p:nvSpPr>
          <p:cNvPr id="11" name="Rounded Rectangle 10"/>
          <p:cNvSpPr/>
          <p:nvPr/>
        </p:nvSpPr>
        <p:spPr>
          <a:xfrm>
            <a:off x="6263640" y="2514600"/>
            <a:ext cx="5394960" cy="1463040"/>
          </a:xfrm>
          <a:prstGeom prst="roundRect">
            <a:avLst>
              <a:gd name="adj" fmla="val 20000"/>
            </a:avLst>
          </a:prstGeom>
          <a:solidFill>
            <a:srgbClr val="D9DCE1"/>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8A8F99"/>
                </a:solidFill>
                <a:latin typeface="Arial"/>
                <a:ea typeface="Arial"/>
                <a:cs typeface="Arial"/>
              </a:rPr>
              <a:t>נָכוֹן</a:t>
            </a:r>
          </a:p>
        </p:txBody>
      </p:sp>
      <p:sp>
        <p:nvSpPr>
          <p:cNvPr id="13" name="Rounded Rectangle 12"/>
          <p:cNvSpPr/>
          <p:nvPr/>
        </p:nvSpPr>
        <p:spPr>
          <a:xfrm>
            <a:off x="548640" y="2514600"/>
            <a:ext cx="5394960" cy="1463040"/>
          </a:xfrm>
          <a:prstGeom prst="roundRect">
            <a:avLst>
              <a:gd name="adj" fmla="val 20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FFFFFF"/>
                </a:solidFill>
                <a:latin typeface="Arial"/>
                <a:ea typeface="Arial"/>
                <a:cs typeface="Arial"/>
              </a:rPr>
              <a:t>✓  לֹא נָכוֹן</a:t>
            </a:r>
          </a:p>
        </p:txBody>
      </p:sp>
      <p:sp>
        <p:nvSpPr>
          <p:cNvPr id="15" name="Rounded Rectangle 14"/>
          <p:cNvSpPr/>
          <p:nvPr/>
        </p:nvSpPr>
        <p:spPr>
          <a:xfrm>
            <a:off x="457200" y="4160520"/>
            <a:ext cx="11277295" cy="2011680"/>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42655" y="3941063"/>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42655" y="3941063"/>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ה׳</a:t>
            </a:r>
          </a:p>
        </p:txBody>
      </p:sp>
      <p:sp>
        <p:nvSpPr>
          <p:cNvPr id="18" name="TextBox 17"/>
          <p:cNvSpPr txBox="1"/>
          <p:nvPr/>
        </p:nvSpPr>
        <p:spPr>
          <a:xfrm>
            <a:off x="685800" y="4361688"/>
            <a:ext cx="10820095" cy="1755648"/>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לֹא־יִתְיַצֵּב אִישׁ לְפָנֶיךָ כֹּל יְמֵי חַיֶּיךָ כַּאֲשֶׁר הָיִיתִי עִם־מֹשֶׁה אֶהְיֶה עִמָּךְ</a:t>
            </a:r>
          </a:p>
          <a:p>
            <a:pPr rtl="1" algn="r">
              <a:lnSpc>
                <a:spcPct val="100000"/>
              </a:lnSpc>
              <a:spcAft>
                <a:spcPts val="0"/>
              </a:spcAft>
            </a:pPr>
            <a:r>
              <a:rPr sz="2200" b="0" lang="he-IL" altLang="en-US">
                <a:solidFill>
                  <a:srgbClr val="2B2B3A"/>
                </a:solidFill>
                <a:latin typeface="Arial"/>
                <a:ea typeface="Arial"/>
                <a:cs typeface="Arial"/>
              </a:rPr>
              <a:t>לא נכון! כתוב ״כֹּל יְמֵי חַיֶּיךָ״ – כל החיים, לא רק שנה אחת.</a:t>
            </a:r>
          </a:p>
        </p:txBody>
      </p:sp>
      <p:sp>
        <p:nvSpPr>
          <p:cNvPr id="19" name="Rounded Rectangle 18">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1" name="Rectangle 20"/>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7</a:t>
            </a:r>
          </a:p>
        </p:txBody>
      </p:sp>
      <p:sp>
        <p:nvSpPr>
          <p:cNvPr id="5" name="Rounded Rectangle 4"/>
          <p:cNvSpPr/>
          <p:nvPr/>
        </p:nvSpPr>
        <p:spPr>
          <a:xfrm>
            <a:off x="320040" y="429768"/>
            <a:ext cx="4088465" cy="585216"/>
          </a:xfrm>
          <a:prstGeom prst="roundRect">
            <a:avLst>
              <a:gd name="adj" fmla="val 50000"/>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פֵּרוּשׁ מִלִּים</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מָה הַפֵּרוּשׁ שֶׁל ״חֲזַק וֶאֱמָץ״?</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תאכל הרבה ותהיה גדול</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רוץ מהר מאוד</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שב בשקט ואל תדבר</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היה חזק ואמיץ, אל תפחד</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7</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מָה הַפֵּרוּשׁ שֶׁל ״חֲזַק וֶאֱמָץ״?</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תאכל הרבה ותהיה גדול</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רוץ מהר מאוד</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שב בשקט ואל תדבר</a:t>
            </a:r>
          </a:p>
        </p:txBody>
      </p:sp>
      <p:sp>
        <p:nvSpPr>
          <p:cNvPr id="23" name="Rounded Rectangle 22"/>
          <p:cNvSpPr/>
          <p:nvPr/>
        </p:nvSpPr>
        <p:spPr>
          <a:xfrm>
            <a:off x="457200"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היה חזק ואמיץ, אל תפחד</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ט׳</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הֲלוֹא צִוִּיתִיךָ חֲזַק וֶאֱמָץ אַל־תַּעֲרֹץ וְאַל־תֵּחָת כִּי עִמְּךָ ה׳ אֱלֹקֶיךָ בְּכֹל אֲשֶׁר תֵּלֵךְ׃</a:t>
            </a:r>
          </a:p>
          <a:p>
            <a:pPr rtl="1" algn="r">
              <a:lnSpc>
                <a:spcPct val="100000"/>
              </a:lnSpc>
              <a:spcAft>
                <a:spcPts val="0"/>
              </a:spcAft>
            </a:pPr>
            <a:r>
              <a:rPr sz="2200" b="0" lang="he-IL" altLang="en-US">
                <a:solidFill>
                  <a:srgbClr val="2B2B3A"/>
                </a:solidFill>
                <a:latin typeface="Arial"/>
                <a:ea typeface="Arial"/>
                <a:cs typeface="Arial"/>
              </a:rPr>
              <a:t>חזק ואמץ = היה חזק ואמיץ. אַל תַּעֲרֹץ וְאַל תֵּחָת = אל תפחד – כי ה׳ איתך!</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8</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כַּמָּה פְּעָמִים ה׳ אוֹמֵר לִיהוֹשֻׁעַ ״חֲזַק וֶאֱמָץ״
בִּפְסוּקִים א׳–ט׳?</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פעם אחת</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2 פעמים</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3 פעמים</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4 פעמים</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8</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כַּמָּה פְּעָמִים ה׳ אוֹמֵר לִיהוֹשֻׁעַ ״חֲזַק וֶאֱמָץ״
בִּפְסוּקִים א׳–ט׳?</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פעם אחת</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2 פעמים</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3 פעמים</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4 פעמים</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פְּסוּקִים ו׳, ז׳, ט׳</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400" b="1" lang="he-IL" altLang="en-US">
                <a:solidFill>
                  <a:srgbClr val="23305E"/>
                </a:solidFill>
                <a:latin typeface="Arial"/>
                <a:ea typeface="Arial"/>
                <a:cs typeface="Arial"/>
              </a:rPr>
              <a:t>ו׳: חֲזַק וֶאֱמָץ כִּי אַתָּה תַּנְחִיל אֶת־הָעָם הַזֶּה</a:t>
            </a:r>
          </a:p>
          <a:p>
            <a:pPr rtl="1" algn="r">
              <a:lnSpc>
                <a:spcPct val="100000"/>
              </a:lnSpc>
              <a:spcAft>
                <a:spcPts val="400"/>
              </a:spcAft>
            </a:pPr>
            <a:r>
              <a:rPr sz="2400" b="1" lang="he-IL" altLang="en-US">
                <a:solidFill>
                  <a:srgbClr val="23305E"/>
                </a:solidFill>
                <a:latin typeface="Arial"/>
                <a:ea typeface="Arial"/>
                <a:cs typeface="Arial"/>
              </a:rPr>
              <a:t>ז׳: רַק חֲזַק וֶאֱמַץ מְאֹד</a:t>
            </a:r>
          </a:p>
          <a:p>
            <a:pPr rtl="1" algn="r">
              <a:lnSpc>
                <a:spcPct val="100000"/>
              </a:lnSpc>
              <a:spcAft>
                <a:spcPts val="400"/>
              </a:spcAft>
            </a:pPr>
            <a:r>
              <a:rPr sz="2400" b="1" lang="he-IL" altLang="en-US">
                <a:solidFill>
                  <a:srgbClr val="23305E"/>
                </a:solidFill>
                <a:latin typeface="Arial"/>
                <a:ea typeface="Arial"/>
                <a:cs typeface="Arial"/>
              </a:rPr>
              <a:t>ט׳: הֲלוֹא צִוִּיתִיךָ חֲזַק וֶאֱמָץ אַל־תַּעֲרֹץ וְאַל־תֵּחָת</a:t>
            </a:r>
          </a:p>
          <a:p>
            <a:pPr rtl="1" algn="r">
              <a:lnSpc>
                <a:spcPct val="100000"/>
              </a:lnSpc>
              <a:spcAft>
                <a:spcPts val="0"/>
              </a:spcAft>
            </a:pPr>
            <a:r>
              <a:rPr sz="2200" b="0" lang="he-IL" altLang="en-US">
                <a:solidFill>
                  <a:srgbClr val="2B2B3A"/>
                </a:solidFill>
                <a:latin typeface="Arial"/>
                <a:ea typeface="Arial"/>
                <a:cs typeface="Arial"/>
              </a:rPr>
              <a:t>3 פעמים! ובסוף הפרק (פסוק י״ח) גם העם אומר ליהושע: ״רַק חֲזַק וֶאֱמָץ״.</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9</a:t>
            </a:r>
          </a:p>
        </p:txBody>
      </p:sp>
      <p:sp>
        <p:nvSpPr>
          <p:cNvPr id="5" name="Rounded Rectangle 4"/>
          <p:cNvSpPr/>
          <p:nvPr/>
        </p:nvSpPr>
        <p:spPr>
          <a:xfrm>
            <a:off x="320040" y="429768"/>
            <a:ext cx="4088465" cy="585216"/>
          </a:xfrm>
          <a:prstGeom prst="roundRect">
            <a:avLst>
              <a:gd name="adj" fmla="val 50000"/>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פֵּרוּשׁ מִלִּים</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״לֹא־יָמוּשׁ סֵפֶר הַתּוֹרָה הַזֶּה מִפִּיךָ״ – מָה הַפֵּרוּשׁ?</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תמיד תלמד ותדבר בדברי התורה</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תשים את הספר בארון</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תלמד רק בשבת</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תקרא בספר פעם בשנה</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9</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״לֹא־יָמוּשׁ סֵפֶר הַתּוֹרָה הַזֶּה מִפִּיךָ״ – מָה הַפֵּרוּשׁ?</a:t>
            </a:r>
          </a:p>
        </p:txBody>
      </p:sp>
      <p:sp>
        <p:nvSpPr>
          <p:cNvPr id="11" name="Rounded Rectangle 10"/>
          <p:cNvSpPr/>
          <p:nvPr/>
        </p:nvSpPr>
        <p:spPr>
          <a:xfrm>
            <a:off x="6236208"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תמיד תלמד ותדבר בדברי התורה</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תשים את הספר בארון</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תלמד רק בשבת</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תקרא בספר פעם בשנה</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ח׳</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לֹא־יָמוּשׁ סֵפֶר הַתּוֹרָה הַזֶּה מִפִּיךָ וְהָגִיתָ בּוֹ יוֹמָם וָלַיְלָה</a:t>
            </a:r>
          </a:p>
          <a:p>
            <a:pPr rtl="1" algn="r">
              <a:lnSpc>
                <a:spcPct val="100000"/>
              </a:lnSpc>
              <a:spcAft>
                <a:spcPts val="0"/>
              </a:spcAft>
            </a:pPr>
            <a:r>
              <a:rPr sz="2200" b="0" lang="he-IL" altLang="en-US">
                <a:solidFill>
                  <a:srgbClr val="2B2B3A"/>
                </a:solidFill>
                <a:latin typeface="Arial"/>
                <a:ea typeface="Arial"/>
                <a:cs typeface="Arial"/>
              </a:rPr>
              <a:t>לא ימוש = לא יזוז. התורה תהיה תמיד בפה של יהושע – ילמד אותה כל הזמן.</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10</a:t>
            </a:r>
          </a:p>
        </p:txBody>
      </p:sp>
      <p:sp>
        <p:nvSpPr>
          <p:cNvPr id="5" name="Rounded Rectangle 4"/>
          <p:cNvSpPr/>
          <p:nvPr/>
        </p:nvSpPr>
        <p:spPr>
          <a:xfrm>
            <a:off x="320040" y="429768"/>
            <a:ext cx="5925312" cy="585216"/>
          </a:xfrm>
          <a:prstGeom prst="roundRect">
            <a:avLst>
              <a:gd name="adj" fmla="val 50000"/>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925312"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הַשְׁלִימִי אֶת הַפָּסוּק</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4000" b="1" lang="he-IL" altLang="en-US">
                <a:solidFill>
                  <a:srgbClr val="23305E"/>
                </a:solidFill>
                <a:latin typeface="Arial"/>
                <a:ea typeface="Arial"/>
                <a:cs typeface="Arial"/>
              </a:rPr>
              <a:t>״וְהָגִיתָ בּוֹ ________ וָלַיְלָה״</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בַּבֹּקֶר</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בַּשַּׁבָּת</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יוֹמָם</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בַּחַג</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א׳  ·  שְׁאֵלָה 10</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״וְהָגִיתָ בּוֹ ________ וָלַיְלָה״</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בַּבֹּקֶר</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בַּשַּׁבָּת</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יוֹמָם</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בַּחַג</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ח׳</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400" b="1" lang="he-IL" altLang="en-US">
                <a:solidFill>
                  <a:srgbClr val="23305E"/>
                </a:solidFill>
                <a:latin typeface="Arial"/>
                <a:ea typeface="Arial"/>
                <a:cs typeface="Arial"/>
              </a:rPr>
              <a:t>לֹא־יָמוּשׁ סֵפֶר הַתּוֹרָה הַזֶּה מִפִּיךָ וְהָגִיתָ בּוֹ יוֹמָם וָלַיְלָה לְמַעַן תִּשְׁמֹר לַעֲשׂוֹת כְּכָל־הַכָּתוּב בּוֹ כִּי־אָז תַּצְלִיחַ אֶת־דְּרָכֶךָ וְאָז תַּשְׂכִּיל׃</a:t>
            </a:r>
          </a:p>
          <a:p>
            <a:pPr rtl="1" algn="r">
              <a:lnSpc>
                <a:spcPct val="100000"/>
              </a:lnSpc>
              <a:spcAft>
                <a:spcPts val="0"/>
              </a:spcAft>
            </a:pPr>
            <a:r>
              <a:rPr sz="2200" b="0" lang="he-IL" altLang="en-US">
                <a:solidFill>
                  <a:srgbClr val="2B2B3A"/>
                </a:solidFill>
                <a:latin typeface="Arial"/>
                <a:ea typeface="Arial"/>
                <a:cs typeface="Arial"/>
              </a:rPr>
              <a:t>יומם ולילה = ביום ובלילה. ״כי אז תצליח את דרכך״ – מי שלומדת תורה מצליחה!</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E1A5E"/>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FFFFFF"/>
                </a:solidFill>
                <a:latin typeface="Arial"/>
                <a:ea typeface="Arial"/>
                <a:cs typeface="Arial"/>
              </a:rPr>
              <a:t>ב״ה</a:t>
            </a:r>
          </a:p>
        </p:txBody>
      </p:sp>
      <p:sp>
        <p:nvSpPr>
          <p:cNvPr id="3" name="5-Point Star 2"/>
          <p:cNvSpPr/>
          <p:nvPr/>
        </p:nvSpPr>
        <p:spPr>
          <a:xfrm>
            <a:off x="731520" y="640080"/>
            <a:ext cx="1005840" cy="100584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10515600" y="731520"/>
            <a:ext cx="822960" cy="82296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1097280" y="4480560"/>
            <a:ext cx="731520" cy="73152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0241280" y="4206240"/>
            <a:ext cx="1005840" cy="100584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2926080" y="457200"/>
            <a:ext cx="457200" cy="457200"/>
          </a:xfrm>
          <a:prstGeom prst="star5">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8778240" y="457200"/>
            <a:ext cx="502920" cy="502920"/>
          </a:xfrm>
          <a:prstGeom prst="star5">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4572000" y="5394960"/>
            <a:ext cx="457200" cy="45720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7315200" y="5394960"/>
            <a:ext cx="457200" cy="45720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1097280"/>
            <a:ext cx="9448495" cy="1737360"/>
          </a:xfrm>
          <a:prstGeom prst="rect">
            <a:avLst/>
          </a:prstGeom>
          <a:noFill/>
        </p:spPr>
        <p:txBody>
          <a:bodyPr wrap="square" tIns="27432" bIns="27432" anchor="ctr">
            <a:spAutoFit/>
          </a:bodyPr>
          <a:lstStyle/>
          <a:p>
            <a:pPr rtl="1" algn="ctr">
              <a:lnSpc>
                <a:spcPct val="100000"/>
              </a:lnSpc>
              <a:spcAft>
                <a:spcPts val="0"/>
              </a:spcAft>
            </a:pPr>
            <a:r>
              <a:rPr sz="9600" b="1" lang="he-IL" altLang="en-US">
                <a:solidFill>
                  <a:srgbClr val="FFC233"/>
                </a:solidFill>
                <a:latin typeface="Arial"/>
                <a:ea typeface="Arial"/>
                <a:cs typeface="Arial"/>
              </a:rPr>
              <a:t>כָּל הַכָּבוֹד!</a:t>
            </a:r>
          </a:p>
        </p:txBody>
      </p:sp>
      <p:sp>
        <p:nvSpPr>
          <p:cNvPr id="12" name="TextBox 11"/>
          <p:cNvSpPr txBox="1"/>
          <p:nvPr/>
        </p:nvSpPr>
        <p:spPr>
          <a:xfrm>
            <a:off x="1371600" y="2880360"/>
            <a:ext cx="9448495" cy="822960"/>
          </a:xfrm>
          <a:prstGeom prst="rect">
            <a:avLst/>
          </a:prstGeom>
          <a:noFill/>
        </p:spPr>
        <p:txBody>
          <a:bodyPr wrap="square" tIns="27432" bIns="27432" anchor="ctr">
            <a:spAutoFit/>
          </a:bodyPr>
          <a:lstStyle/>
          <a:p>
            <a:pPr rtl="1" algn="ctr">
              <a:lnSpc>
                <a:spcPct val="100000"/>
              </a:lnSpc>
              <a:spcAft>
                <a:spcPts val="0"/>
              </a:spcAft>
            </a:pPr>
            <a:r>
              <a:rPr sz="3600" b="1" lang="he-IL" altLang="en-US">
                <a:solidFill>
                  <a:srgbClr val="FFFFFF"/>
                </a:solidFill>
                <a:latin typeface="Arial"/>
                <a:ea typeface="Arial"/>
                <a:cs typeface="Arial"/>
              </a:rPr>
              <a:t>סִיַּמְנוּ אֶת חִידוֹן א׳!</a:t>
            </a:r>
          </a:p>
        </p:txBody>
      </p:sp>
      <p:sp>
        <p:nvSpPr>
          <p:cNvPr id="13" name="TextBox 12"/>
          <p:cNvSpPr txBox="1"/>
          <p:nvPr/>
        </p:nvSpPr>
        <p:spPr>
          <a:xfrm>
            <a:off x="1371600" y="3657600"/>
            <a:ext cx="9448495" cy="822960"/>
          </a:xfrm>
          <a:prstGeom prst="rect">
            <a:avLst/>
          </a:prstGeom>
          <a:noFill/>
        </p:spPr>
        <p:txBody>
          <a:bodyPr wrap="square" tIns="27432" bIns="27432" anchor="ctr">
            <a:spAutoFit/>
          </a:bodyPr>
          <a:lstStyle/>
          <a:p>
            <a:pPr rtl="1" algn="ctr">
              <a:lnSpc>
                <a:spcPct val="100000"/>
              </a:lnSpc>
              <a:spcAft>
                <a:spcPts val="0"/>
              </a:spcAft>
            </a:pPr>
            <a:r>
              <a:rPr sz="2800" b="0" lang="he-IL" altLang="en-US">
                <a:solidFill>
                  <a:srgbClr val="FFFFFF"/>
                </a:solidFill>
                <a:latin typeface="Arial"/>
                <a:ea typeface="Arial"/>
                <a:cs typeface="Arial"/>
              </a:rPr>
              <a:t>בּוֹאוּ נִסְפֹּר נְקוּדוֹת – מִי הַקְּבוּצָה הַמְּנַצַּחַת?</a:t>
            </a:r>
          </a:p>
        </p:txBody>
      </p:sp>
      <p:sp>
        <p:nvSpPr>
          <p:cNvPr id="14" name="Rounded Rectangle 13">
            <a:hlinkClick action="ppaction://hlinksldjump" r:id="rId3"/>
          </p:cNvPr>
          <p:cNvSpPr/>
          <p:nvPr/>
        </p:nvSpPr>
        <p:spPr>
          <a:xfrm>
            <a:off x="4267047" y="4709160"/>
            <a:ext cx="3657600" cy="777240"/>
          </a:xfrm>
          <a:prstGeom prst="roundRect">
            <a:avLst>
              <a:gd name="adj" fmla="val 50000"/>
            </a:avLst>
          </a:prstGeom>
          <a:solidFill>
            <a:srgbClr val="F25C9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3"/>
          </p:cNvPr>
          <p:cNvSpPr txBox="1"/>
          <p:nvPr/>
        </p:nvSpPr>
        <p:spPr>
          <a:xfrm>
            <a:off x="4267047" y="4709160"/>
            <a:ext cx="3657600" cy="777240"/>
          </a:xfrm>
          <a:prstGeom prst="rect">
            <a:avLst/>
          </a:prstGeom>
          <a:noFill/>
        </p:spPr>
        <p:txBody>
          <a:bodyPr wrap="square" tIns="27432" bIns="27432" anchor="ctr">
            <a:spAutoFit/>
          </a:bodyPr>
          <a:lstStyle/>
          <a:p>
            <a:pPr rtl="1" algn="ctr">
              <a:lnSpc>
                <a:spcPct val="100000"/>
              </a:lnSpc>
              <a:spcAft>
                <a:spcPts val="0"/>
              </a:spcAft>
            </a:pPr>
            <a:r>
              <a:rPr sz="2800" b="1" lang="he-IL" altLang="en-US">
                <a:solidFill>
                  <a:srgbClr val="FFFFFF"/>
                </a:solidFill>
                <a:latin typeface="Arial"/>
                <a:ea typeface="Arial"/>
                <a:cs typeface="Arial"/>
              </a:rPr>
              <a:t>לְחִידוֹן ב׳ ◄</a:t>
            </a:r>
          </a:p>
        </p:txBody>
      </p:sp>
      <p:sp>
        <p:nvSpPr>
          <p:cNvPr id="16" name="Rounded Rectangle 15">
            <a:hlinkClick action="ppaction://hlinksldjump" r:id="rId4"/>
          </p:cNvPr>
          <p:cNvSpPr/>
          <p:nvPr/>
        </p:nvSpPr>
        <p:spPr>
          <a:xfrm>
            <a:off x="228600" y="6236208"/>
            <a:ext cx="1234440" cy="420624"/>
          </a:xfrm>
          <a:prstGeom prst="roundRect">
            <a:avLst>
              <a:gd name="adj" fmla="val 50000"/>
            </a:avLst>
          </a:prstGeom>
          <a:solidFill>
            <a:srgbClr val="2E1A5E"/>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a:hlinkClick action="ppaction://hlinksldjump" r:id="rId4"/>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FFFFFF"/>
                </a:solidFill>
                <a:latin typeface="Arial"/>
                <a:ea typeface="Arial"/>
                <a:cs typeface="Arial"/>
              </a:rPr>
              <a:t>⌂ תַּפְרִיט</a:t>
            </a:r>
          </a:p>
        </p:txBody>
      </p:sp>
      <p:sp>
        <p:nvSpPr>
          <p:cNvPr id="18" name="Rectangle 17"/>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E1A5E"/>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FFFFFF"/>
                </a:solidFill>
                <a:latin typeface="Arial"/>
                <a:ea typeface="Arial"/>
                <a:cs typeface="Arial"/>
              </a:rPr>
              <a:t>ב״ה</a:t>
            </a:r>
          </a:p>
        </p:txBody>
      </p:sp>
      <p:sp>
        <p:nvSpPr>
          <p:cNvPr id="3" name="5-Point Star 2"/>
          <p:cNvSpPr/>
          <p:nvPr/>
        </p:nvSpPr>
        <p:spPr>
          <a:xfrm>
            <a:off x="914400" y="914400"/>
            <a:ext cx="822960" cy="82296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10424160" y="1188720"/>
            <a:ext cx="640080" cy="64008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1645920" y="5120640"/>
            <a:ext cx="548640" cy="54864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0058400" y="4937760"/>
            <a:ext cx="914400" cy="91440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5760720" y="5760720"/>
            <a:ext cx="411480" cy="411480"/>
          </a:xfrm>
          <a:prstGeom prst="star5">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194560" y="1463040"/>
            <a:ext cx="7802575" cy="2194560"/>
          </a:xfrm>
          <a:prstGeom prst="roundRect">
            <a:avLst>
              <a:gd name="adj" fmla="val 25000"/>
            </a:avLst>
          </a:prstGeom>
          <a:solidFill>
            <a:srgbClr val="2F80ED"/>
          </a:solidFill>
          <a:ln w="762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0" y="1463040"/>
            <a:ext cx="7802575" cy="2194560"/>
          </a:xfrm>
          <a:prstGeom prst="rect">
            <a:avLst/>
          </a:prstGeom>
          <a:noFill/>
        </p:spPr>
        <p:txBody>
          <a:bodyPr wrap="square" tIns="27432" bIns="27432" anchor="ctr">
            <a:spAutoFit/>
          </a:bodyPr>
          <a:lstStyle/>
          <a:p>
            <a:pPr rtl="1" algn="ctr">
              <a:lnSpc>
                <a:spcPct val="100000"/>
              </a:lnSpc>
              <a:spcAft>
                <a:spcPts val="0"/>
              </a:spcAft>
            </a:pPr>
            <a:r>
              <a:rPr sz="8000" b="1" lang="he-IL" altLang="en-US">
                <a:solidFill>
                  <a:srgbClr val="FFFFFF"/>
                </a:solidFill>
                <a:latin typeface="Arial"/>
                <a:ea typeface="Arial"/>
                <a:cs typeface="Arial"/>
              </a:rPr>
              <a:t>חִידוֹן ב׳</a:t>
            </a:r>
          </a:p>
        </p:txBody>
      </p:sp>
      <p:sp>
        <p:nvSpPr>
          <p:cNvPr id="10" name="TextBox 9"/>
          <p:cNvSpPr txBox="1"/>
          <p:nvPr/>
        </p:nvSpPr>
        <p:spPr>
          <a:xfrm>
            <a:off x="1371600" y="3886200"/>
            <a:ext cx="9448495" cy="822960"/>
          </a:xfrm>
          <a:prstGeom prst="rect">
            <a:avLst/>
          </a:prstGeom>
          <a:noFill/>
        </p:spPr>
        <p:txBody>
          <a:bodyPr wrap="square" tIns="27432" bIns="27432" anchor="ctr">
            <a:spAutoFit/>
          </a:bodyPr>
          <a:lstStyle/>
          <a:p>
            <a:pPr rtl="1" algn="ctr">
              <a:lnSpc>
                <a:spcPct val="100000"/>
              </a:lnSpc>
              <a:spcAft>
                <a:spcPts val="0"/>
              </a:spcAft>
            </a:pPr>
            <a:r>
              <a:rPr sz="3400" b="1" lang="he-IL" altLang="en-US">
                <a:solidFill>
                  <a:srgbClr val="FFC233"/>
                </a:solidFill>
                <a:latin typeface="Arial"/>
                <a:ea typeface="Arial"/>
                <a:cs typeface="Arial"/>
              </a:rPr>
              <a:t>יְהוֹשֻׁעַ פֶּרֶק א׳ · פְּסוּקִים י׳–י״ח</a:t>
            </a:r>
          </a:p>
        </p:txBody>
      </p:sp>
      <p:sp>
        <p:nvSpPr>
          <p:cNvPr id="11" name="TextBox 10"/>
          <p:cNvSpPr txBox="1"/>
          <p:nvPr/>
        </p:nvSpPr>
        <p:spPr>
          <a:xfrm>
            <a:off x="1371600" y="4663440"/>
            <a:ext cx="9448495" cy="731520"/>
          </a:xfrm>
          <a:prstGeom prst="rect">
            <a:avLst/>
          </a:prstGeom>
          <a:noFill/>
        </p:spPr>
        <p:txBody>
          <a:bodyPr wrap="square" tIns="27432" bIns="27432" anchor="ctr">
            <a:spAutoFit/>
          </a:bodyPr>
          <a:lstStyle/>
          <a:p>
            <a:pPr rtl="1" algn="ctr">
              <a:lnSpc>
                <a:spcPct val="100000"/>
              </a:lnSpc>
              <a:spcAft>
                <a:spcPts val="0"/>
              </a:spcAft>
            </a:pPr>
            <a:r>
              <a:rPr sz="2600" b="0" lang="he-IL" altLang="en-US">
                <a:solidFill>
                  <a:srgbClr val="FFFFFF"/>
                </a:solidFill>
                <a:latin typeface="Arial"/>
                <a:ea typeface="Arial"/>
                <a:cs typeface="Arial"/>
              </a:rPr>
              <a:t>10 שְׁאֵלוֹת · כָּל תְּשׁוּבָה נְכוֹנָה = 10 נְקוּדוֹת</a:t>
            </a:r>
          </a:p>
        </p:txBody>
      </p:sp>
      <p:sp>
        <p:nvSpPr>
          <p:cNvPr id="12" name="Rounded Rectangle 11">
            <a:hlinkClick action="ppaction://hlinksldjump" r:id="rId3"/>
          </p:cNvPr>
          <p:cNvSpPr/>
          <p:nvPr/>
        </p:nvSpPr>
        <p:spPr>
          <a:xfrm>
            <a:off x="228600" y="6236208"/>
            <a:ext cx="1234440" cy="420624"/>
          </a:xfrm>
          <a:prstGeom prst="roundRect">
            <a:avLst>
              <a:gd name="adj" fmla="val 50000"/>
            </a:avLst>
          </a:prstGeom>
          <a:solidFill>
            <a:srgbClr val="2E1A5E"/>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FFFFFF"/>
                </a:solidFill>
                <a:latin typeface="Arial"/>
                <a:ea typeface="Arial"/>
                <a:cs typeface="Arial"/>
              </a:rPr>
              <a:t>⌂ תַּפְרִיט</a:t>
            </a:r>
          </a:p>
        </p:txBody>
      </p:sp>
      <p:sp>
        <p:nvSpPr>
          <p:cNvPr id="14" name="Rectangle 13"/>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1</a:t>
            </a:r>
          </a:p>
        </p:txBody>
      </p:sp>
      <p:sp>
        <p:nvSpPr>
          <p:cNvPr id="5" name="Rounded Rectangle 4"/>
          <p:cNvSpPr/>
          <p:nvPr/>
        </p:nvSpPr>
        <p:spPr>
          <a:xfrm>
            <a:off x="320040" y="429768"/>
            <a:ext cx="4088465" cy="585216"/>
          </a:xfrm>
          <a:prstGeom prst="roundRect">
            <a:avLst>
              <a:gd name="adj" fmla="val 5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מִי אָמַר לְמִי?</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״עִבְרוּ בְּקֶרֶב הַמַּחֲנֶה וְצַוּוּ אֶת־הָעָם״
מִי אָמַר לְמִי?</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 ליהושע</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יהושע לשוטרי העם</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משה לבני ישראל</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העם ליהושע</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1</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״עִבְרוּ בְּקֶרֶב הַמַּחֲנֶה וְצַוּוּ אֶת־הָעָם״
מִי אָמַר לְמִי?</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 ליהושע</a:t>
            </a:r>
          </a:p>
        </p:txBody>
      </p:sp>
      <p:sp>
        <p:nvSpPr>
          <p:cNvPr id="15" name="Rounded Rectangle 14"/>
          <p:cNvSpPr/>
          <p:nvPr/>
        </p:nvSpPr>
        <p:spPr>
          <a:xfrm>
            <a:off x="457200"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יהושע לשוטרי העם</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משה לבני ישראל</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העם ליהושע</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פְּסוּקִים י׳–י״א</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וַיְצַו יְהוֹשֻׁעַ אֶת־שֹׁטְרֵי הָעָם לֵאמֹר׃</a:t>
            </a:r>
          </a:p>
          <a:p>
            <a:pPr rtl="1" algn="r">
              <a:lnSpc>
                <a:spcPct val="100000"/>
              </a:lnSpc>
              <a:spcAft>
                <a:spcPts val="400"/>
              </a:spcAft>
            </a:pPr>
            <a:r>
              <a:rPr sz="2600" b="1" lang="he-IL" altLang="en-US">
                <a:solidFill>
                  <a:srgbClr val="23305E"/>
                </a:solidFill>
                <a:latin typeface="Arial"/>
                <a:ea typeface="Arial"/>
                <a:cs typeface="Arial"/>
              </a:rPr>
              <a:t>עִבְרוּ בְּקֶרֶב הַמַּחֲנֶה וְצַוּוּ אֶת־הָעָם לֵאמֹר הָכִינוּ לָכֶם צֵידָה</a:t>
            </a:r>
          </a:p>
          <a:p>
            <a:pPr rtl="1" algn="r">
              <a:lnSpc>
                <a:spcPct val="100000"/>
              </a:lnSpc>
              <a:spcAft>
                <a:spcPts val="0"/>
              </a:spcAft>
            </a:pPr>
            <a:r>
              <a:rPr sz="2200" b="0" lang="he-IL" altLang="en-US">
                <a:solidFill>
                  <a:srgbClr val="2B2B3A"/>
                </a:solidFill>
                <a:latin typeface="Arial"/>
                <a:ea typeface="Arial"/>
                <a:cs typeface="Arial"/>
              </a:rPr>
              <a:t>יהושע ציווה את שוטרי העם לעבור בכל המחנה ולהודיע לכולם.</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2</a:t>
            </a:r>
          </a:p>
        </p:txBody>
      </p:sp>
      <p:sp>
        <p:nvSpPr>
          <p:cNvPr id="5" name="Rounded Rectangle 4"/>
          <p:cNvSpPr/>
          <p:nvPr/>
        </p:nvSpPr>
        <p:spPr>
          <a:xfrm>
            <a:off x="320040" y="429768"/>
            <a:ext cx="4088465" cy="585216"/>
          </a:xfrm>
          <a:prstGeom prst="roundRect">
            <a:avLst>
              <a:gd name="adj" fmla="val 50000"/>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פֵּרוּשׁ מִלִּים</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״הָכִינוּ לָכֶם צֵידָה״ – מָה זֶה צֵידָה?</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אוהל לישון בו</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בגדים חמים</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אוכל לדרך</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ספר תורה</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2</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״הָכִינוּ לָכֶם צֵידָה״ – מָה זֶה צֵידָה?</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אוהל לישון בו</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בגדים חמים</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אוכל לדרך</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ספר תורה</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י״א</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הָכִינוּ לָכֶם צֵידָה כִּי בְּעוֹד שְׁלֹשֶׁת יָמִים אַתֶּם עֹבְרִים אֶת־הַיַּרְדֵּן הַזֶּה</a:t>
            </a:r>
          </a:p>
          <a:p>
            <a:pPr rtl="1" algn="r">
              <a:lnSpc>
                <a:spcPct val="100000"/>
              </a:lnSpc>
              <a:spcAft>
                <a:spcPts val="0"/>
              </a:spcAft>
            </a:pPr>
            <a:r>
              <a:rPr sz="2200" b="0" lang="he-IL" altLang="en-US">
                <a:solidFill>
                  <a:srgbClr val="2B2B3A"/>
                </a:solidFill>
                <a:latin typeface="Arial"/>
                <a:ea typeface="Arial"/>
                <a:cs typeface="Arial"/>
              </a:rPr>
              <a:t>צידה = אוכל לדרך. כמו שאומרים היום: ״צֵידָה לַדֶּרֶךְ״.</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3</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בְּעוֹד כַּמָּה יָמִים יַעַבְרוּ בְּנֵי יִשְׂרָאֵל אֶת הַיַּרְדֵּן?</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3 ימים</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7 ימים</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40 ימים</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יום אחד</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3</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בְּעוֹד כַּמָּה יָמִים יַעַבְרוּ בְּנֵי יִשְׂרָאֵל אֶת הַיַּרְדֵּן?</a:t>
            </a:r>
          </a:p>
        </p:txBody>
      </p:sp>
      <p:sp>
        <p:nvSpPr>
          <p:cNvPr id="11" name="Rounded Rectangle 10"/>
          <p:cNvSpPr/>
          <p:nvPr/>
        </p:nvSpPr>
        <p:spPr>
          <a:xfrm>
            <a:off x="6236208"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3 ימים</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7 ימים</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40 ימים</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יום אחד</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י״א</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כִּי בְּעוֹד שְׁלֹשֶׁת יָמִים אַתֶּם עֹבְרִים אֶת־הַיַּרְדֵּן הַזֶּה לָבוֹא לָרֶשֶׁת אֶת־הָאָרֶץ</a:t>
            </a:r>
          </a:p>
          <a:p>
            <a:pPr rtl="1" algn="r">
              <a:lnSpc>
                <a:spcPct val="100000"/>
              </a:lnSpc>
              <a:spcAft>
                <a:spcPts val="0"/>
              </a:spcAft>
            </a:pPr>
            <a:r>
              <a:rPr sz="2200" b="0" lang="he-IL" altLang="en-US">
                <a:solidFill>
                  <a:srgbClr val="2B2B3A"/>
                </a:solidFill>
                <a:latin typeface="Arial"/>
                <a:ea typeface="Arial"/>
                <a:cs typeface="Arial"/>
              </a:rPr>
              <a:t>״בְּעוֹד שְׁלֹשֶׁת יָמִים״ – עוד 3 ימים!</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4</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אֶל אֵילוּ שְׁבָטִים דִּבֵּר יְהוֹשֻׁעַ בְּפָסוּק י״ב?</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יהודה ולוי</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ראובן, גד וחצי שבט המנשה</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אפרים ובנימין</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דן ונפתלי</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4</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אֶל אֵילוּ שְׁבָטִים דִּבֵּר יְהוֹשֻׁעַ בְּפָסוּק י״ב?</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יהודה ולוי</a:t>
            </a:r>
          </a:p>
        </p:txBody>
      </p:sp>
      <p:sp>
        <p:nvSpPr>
          <p:cNvPr id="15" name="Rounded Rectangle 14"/>
          <p:cNvSpPr/>
          <p:nvPr/>
        </p:nvSpPr>
        <p:spPr>
          <a:xfrm>
            <a:off x="457200"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ראובן, גד וחצי שבט המנשה</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אפרים ובנימין</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דן ונפתלי</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י״ב</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וְלָראוּבֵנִי וְלַגָּדִי וְלַחֲצִי שֵׁבֶט הַמְנַשֶּׁה אָמַר יְהוֹשֻׁעַ לֵאמֹר׃</a:t>
            </a:r>
          </a:p>
          <a:p>
            <a:pPr rtl="1" algn="r">
              <a:lnSpc>
                <a:spcPct val="100000"/>
              </a:lnSpc>
              <a:spcAft>
                <a:spcPts val="0"/>
              </a:spcAft>
            </a:pPr>
            <a:r>
              <a:rPr sz="2200" b="0" lang="he-IL" altLang="en-US">
                <a:solidFill>
                  <a:srgbClr val="2B2B3A"/>
                </a:solidFill>
                <a:latin typeface="Arial"/>
                <a:ea typeface="Arial"/>
                <a:cs typeface="Arial"/>
              </a:rPr>
              <a:t>שבטים אלו כבר קיבלו נחלה ממשה בעבר הירדן (בצד המזרחי).</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5</a:t>
            </a:r>
          </a:p>
        </p:txBody>
      </p:sp>
      <p:sp>
        <p:nvSpPr>
          <p:cNvPr id="5" name="Rounded Rectangle 4"/>
          <p:cNvSpPr/>
          <p:nvPr/>
        </p:nvSpPr>
        <p:spPr>
          <a:xfrm>
            <a:off x="320040" y="429768"/>
            <a:ext cx="5313029" cy="585216"/>
          </a:xfrm>
          <a:prstGeom prst="roundRect">
            <a:avLst>
              <a:gd name="adj" fmla="val 50000"/>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313029"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נָכוֹן אוֹ לֹא נָכוֹן?</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הַנָּשִׁים, הַיְּלָדִים וְהַבְּהֵמוֹת שֶׁל שְׁבָטִים אֵלּוּ
יִשָּׁאֲרוּ בְּעֵבֶר הַיַּרְדֵּן.</a:t>
            </a:r>
          </a:p>
        </p:txBody>
      </p:sp>
      <p:sp>
        <p:nvSpPr>
          <p:cNvPr id="9" name="Rounded Rectangle 8"/>
          <p:cNvSpPr/>
          <p:nvPr/>
        </p:nvSpPr>
        <p:spPr>
          <a:xfrm>
            <a:off x="6263640" y="3337560"/>
            <a:ext cx="5394960" cy="2514600"/>
          </a:xfrm>
          <a:prstGeom prst="roundRect">
            <a:avLst>
              <a:gd name="adj" fmla="val 20000"/>
            </a:avLst>
          </a:prstGeom>
          <a:solidFill>
            <a:srgbClr val="2F80ED"/>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נָכוֹן</a:t>
            </a:r>
          </a:p>
        </p:txBody>
      </p:sp>
      <p:sp>
        <p:nvSpPr>
          <p:cNvPr id="11" name="Rounded Rectangle 10"/>
          <p:cNvSpPr/>
          <p:nvPr/>
        </p:nvSpPr>
        <p:spPr>
          <a:xfrm>
            <a:off x="548640" y="3337560"/>
            <a:ext cx="5394960" cy="2514600"/>
          </a:xfrm>
          <a:prstGeom prst="roundRect">
            <a:avLst>
              <a:gd name="adj" fmla="val 20000"/>
            </a:avLst>
          </a:prstGeom>
          <a:solidFill>
            <a:srgbClr val="F2994A"/>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לֹא נָכוֹן</a:t>
            </a:r>
          </a:p>
        </p:txBody>
      </p:sp>
      <p:sp>
        <p:nvSpPr>
          <p:cNvPr id="13" name="Rounded Rectangle 12">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15" name="Rectangle 14"/>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5</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הַנָּשִׁים, הַיְּלָדִים וְהַבְּהֵמוֹת שֶׁל שְׁבָטִים אֵלּוּ
יִשָּׁאֲרוּ בְּעֵבֶר הַיַּרְדֵּן.</a:t>
            </a:r>
          </a:p>
        </p:txBody>
      </p:sp>
      <p:sp>
        <p:nvSpPr>
          <p:cNvPr id="11" name="Rounded Rectangle 10"/>
          <p:cNvSpPr/>
          <p:nvPr/>
        </p:nvSpPr>
        <p:spPr>
          <a:xfrm>
            <a:off x="6263640" y="2514600"/>
            <a:ext cx="5394960" cy="1463040"/>
          </a:xfrm>
          <a:prstGeom prst="roundRect">
            <a:avLst>
              <a:gd name="adj" fmla="val 20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FFFFFF"/>
                </a:solidFill>
                <a:latin typeface="Arial"/>
                <a:ea typeface="Arial"/>
                <a:cs typeface="Arial"/>
              </a:rPr>
              <a:t>✓  נָכוֹן</a:t>
            </a:r>
          </a:p>
        </p:txBody>
      </p:sp>
      <p:sp>
        <p:nvSpPr>
          <p:cNvPr id="13" name="Rounded Rectangle 12"/>
          <p:cNvSpPr/>
          <p:nvPr/>
        </p:nvSpPr>
        <p:spPr>
          <a:xfrm>
            <a:off x="548640" y="2514600"/>
            <a:ext cx="5394960" cy="1463040"/>
          </a:xfrm>
          <a:prstGeom prst="roundRect">
            <a:avLst>
              <a:gd name="adj" fmla="val 20000"/>
            </a:avLst>
          </a:prstGeom>
          <a:solidFill>
            <a:srgbClr val="D9DCE1"/>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8A8F99"/>
                </a:solidFill>
                <a:latin typeface="Arial"/>
                <a:ea typeface="Arial"/>
                <a:cs typeface="Arial"/>
              </a:rPr>
              <a:t>לֹא נָכוֹן</a:t>
            </a:r>
          </a:p>
        </p:txBody>
      </p:sp>
      <p:sp>
        <p:nvSpPr>
          <p:cNvPr id="15" name="Rounded Rectangle 14"/>
          <p:cNvSpPr/>
          <p:nvPr/>
        </p:nvSpPr>
        <p:spPr>
          <a:xfrm>
            <a:off x="457200" y="4160520"/>
            <a:ext cx="11277295" cy="2011680"/>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42655" y="3941063"/>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42655" y="3941063"/>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י״ד</a:t>
            </a:r>
          </a:p>
        </p:txBody>
      </p:sp>
      <p:sp>
        <p:nvSpPr>
          <p:cNvPr id="18" name="TextBox 17"/>
          <p:cNvSpPr txBox="1"/>
          <p:nvPr/>
        </p:nvSpPr>
        <p:spPr>
          <a:xfrm>
            <a:off x="685800" y="4361688"/>
            <a:ext cx="10820095" cy="1755648"/>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נְשֵׁיכֶם טַפְּכֶם וּמִקְנֵיכֶם יֵשְׁבוּ בָּאָרֶץ אֲשֶׁר נָתַן לָכֶם מֹשֶׁה בְּעֵבֶר הַיַּרְדֵּן</a:t>
            </a:r>
          </a:p>
          <a:p>
            <a:pPr rtl="1" algn="r">
              <a:lnSpc>
                <a:spcPct val="100000"/>
              </a:lnSpc>
              <a:spcAft>
                <a:spcPts val="0"/>
              </a:spcAft>
            </a:pPr>
            <a:r>
              <a:rPr sz="2200" b="0" lang="he-IL" altLang="en-US">
                <a:solidFill>
                  <a:srgbClr val="2B2B3A"/>
                </a:solidFill>
                <a:latin typeface="Arial"/>
                <a:ea typeface="Arial"/>
                <a:cs typeface="Arial"/>
              </a:rPr>
              <a:t>נכון! טַפְּכֶם = הילדים הקטנים, מִקְנֵיכֶם = הבהמות. הם נשארו בבית.</a:t>
            </a:r>
          </a:p>
        </p:txBody>
      </p:sp>
      <p:sp>
        <p:nvSpPr>
          <p:cNvPr id="19" name="Rounded Rectangle 18">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1" name="Rectangle 20"/>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6</a:t>
            </a:r>
          </a:p>
        </p:txBody>
      </p:sp>
      <p:sp>
        <p:nvSpPr>
          <p:cNvPr id="5" name="Rounded Rectangle 4"/>
          <p:cNvSpPr/>
          <p:nvPr/>
        </p:nvSpPr>
        <p:spPr>
          <a:xfrm>
            <a:off x="320040" y="429768"/>
            <a:ext cx="4700747" cy="585216"/>
          </a:xfrm>
          <a:prstGeom prst="roundRect">
            <a:avLst>
              <a:gd name="adj" fmla="val 50000"/>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700747"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בַּחֲרִי תְּשׁוּבָה</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200" b="1" lang="he-IL" altLang="en-US">
                <a:solidFill>
                  <a:srgbClr val="23305E"/>
                </a:solidFill>
                <a:latin typeface="Arial"/>
                <a:ea typeface="Arial"/>
                <a:cs typeface="Arial"/>
              </a:rPr>
              <a:t>מָה בִּקֵּשׁ יְהוֹשֻׁעַ מֵהַגִּבּוֹרִים שֶׁל רְאוּבֵן, גָּד וַחֲצִי הַמְנַשֶּׁה?</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להישאר בבית ולשמור</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לבנות עיר חדשה</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לחזור למדבר</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לעבור חמושים לפני אחיהם ולעזור להם</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6</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מָה בִּקֵּשׁ יְהוֹשֻׁעַ מֵהַגִּבּוֹרִים שֶׁל רְאוּבֵן, גָּד וַחֲצִי הַמְנַשֶּׁה?</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להישאר בבית ולשמור</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לבנות עיר חדשה</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לחזור למדבר</a:t>
            </a:r>
          </a:p>
        </p:txBody>
      </p:sp>
      <p:sp>
        <p:nvSpPr>
          <p:cNvPr id="23" name="Rounded Rectangle 22"/>
          <p:cNvSpPr/>
          <p:nvPr/>
        </p:nvSpPr>
        <p:spPr>
          <a:xfrm>
            <a:off x="457200"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לעבור חמושים לפני אחיהם ולעזור להם</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י״ד</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וְאַתֶּם תַּעַבְרוּ חֲמֻשִׁים לִפְנֵי אֲחֵיכֶם כֹּל גִּבּוֹרֵי הַחַיִל וַעֲזַרְתֶּם אוֹתָם</a:t>
            </a:r>
          </a:p>
          <a:p>
            <a:pPr rtl="1" algn="r">
              <a:lnSpc>
                <a:spcPct val="100000"/>
              </a:lnSpc>
              <a:spcAft>
                <a:spcPts val="0"/>
              </a:spcAft>
            </a:pPr>
            <a:r>
              <a:rPr sz="2200" b="0" lang="he-IL" altLang="en-US">
                <a:solidFill>
                  <a:srgbClr val="2B2B3A"/>
                </a:solidFill>
                <a:latin typeface="Arial"/>
                <a:ea typeface="Arial"/>
                <a:cs typeface="Arial"/>
              </a:rPr>
              <a:t>חמושים = מוכנים למלחמה. הם הולכים ראשונים ועוזרים לאחים לקבל את הארץ.</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7</a:t>
            </a:r>
          </a:p>
        </p:txBody>
      </p:sp>
      <p:sp>
        <p:nvSpPr>
          <p:cNvPr id="5" name="Rounded Rectangle 4"/>
          <p:cNvSpPr/>
          <p:nvPr/>
        </p:nvSpPr>
        <p:spPr>
          <a:xfrm>
            <a:off x="320040" y="429768"/>
            <a:ext cx="5313029" cy="585216"/>
          </a:xfrm>
          <a:prstGeom prst="roundRect">
            <a:avLst>
              <a:gd name="adj" fmla="val 50000"/>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313029"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נָכוֹן אוֹ לֹא נָכוֹן?</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הַגִּבּוֹרִים שֶׁל שְׁבָטִים אֵלּוּ יְכוֹלִים לַחֲזֹר הַבַּיְתָה
מִיָּד אַחֲרֵי שֶׁיַּעַבְרוּ אֶת הַיַּרְדֵּן.</a:t>
            </a:r>
          </a:p>
        </p:txBody>
      </p:sp>
      <p:sp>
        <p:nvSpPr>
          <p:cNvPr id="9" name="Rounded Rectangle 8"/>
          <p:cNvSpPr/>
          <p:nvPr/>
        </p:nvSpPr>
        <p:spPr>
          <a:xfrm>
            <a:off x="6263640" y="3337560"/>
            <a:ext cx="5394960" cy="2514600"/>
          </a:xfrm>
          <a:prstGeom prst="roundRect">
            <a:avLst>
              <a:gd name="adj" fmla="val 20000"/>
            </a:avLst>
          </a:prstGeom>
          <a:solidFill>
            <a:srgbClr val="2F80ED"/>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נָכוֹן</a:t>
            </a:r>
          </a:p>
        </p:txBody>
      </p:sp>
      <p:sp>
        <p:nvSpPr>
          <p:cNvPr id="11" name="Rounded Rectangle 10"/>
          <p:cNvSpPr/>
          <p:nvPr/>
        </p:nvSpPr>
        <p:spPr>
          <a:xfrm>
            <a:off x="548640" y="3337560"/>
            <a:ext cx="5394960" cy="2514600"/>
          </a:xfrm>
          <a:prstGeom prst="roundRect">
            <a:avLst>
              <a:gd name="adj" fmla="val 20000"/>
            </a:avLst>
          </a:prstGeom>
          <a:solidFill>
            <a:srgbClr val="F2994A"/>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337560"/>
            <a:ext cx="5394960" cy="2514600"/>
          </a:xfrm>
          <a:prstGeom prst="rect">
            <a:avLst/>
          </a:prstGeom>
          <a:noFill/>
        </p:spPr>
        <p:txBody>
          <a:bodyPr wrap="square" tIns="27432" bIns="27432" anchor="ctr">
            <a:spAutoFit/>
          </a:bodyPr>
          <a:lstStyle/>
          <a:p>
            <a:pPr rtl="1" algn="ctr">
              <a:lnSpc>
                <a:spcPct val="100000"/>
              </a:lnSpc>
              <a:spcAft>
                <a:spcPts val="0"/>
              </a:spcAft>
            </a:pPr>
            <a:r>
              <a:rPr sz="5400" b="1" lang="he-IL" altLang="en-US">
                <a:solidFill>
                  <a:srgbClr val="FFFFFF"/>
                </a:solidFill>
                <a:latin typeface="Arial"/>
                <a:ea typeface="Arial"/>
                <a:cs typeface="Arial"/>
              </a:rPr>
              <a:t>לֹא נָכוֹן</a:t>
            </a:r>
          </a:p>
        </p:txBody>
      </p:sp>
      <p:sp>
        <p:nvSpPr>
          <p:cNvPr id="13" name="Rounded Rectangle 12">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15" name="Rectangle 14"/>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7</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הַגִּבּוֹרִים שֶׁל שְׁבָטִים אֵלּוּ יְכוֹלִים לַחֲזֹר הַבַּיְתָה
מִיָּד אַחֲרֵי שֶׁיַּעַבְרוּ אֶת הַיַּרְדֵּן.</a:t>
            </a:r>
          </a:p>
        </p:txBody>
      </p:sp>
      <p:sp>
        <p:nvSpPr>
          <p:cNvPr id="11" name="Rounded Rectangle 10"/>
          <p:cNvSpPr/>
          <p:nvPr/>
        </p:nvSpPr>
        <p:spPr>
          <a:xfrm>
            <a:off x="6263640" y="2514600"/>
            <a:ext cx="5394960" cy="1463040"/>
          </a:xfrm>
          <a:prstGeom prst="roundRect">
            <a:avLst>
              <a:gd name="adj" fmla="val 20000"/>
            </a:avLst>
          </a:prstGeom>
          <a:solidFill>
            <a:srgbClr val="D9DCE1"/>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8A8F99"/>
                </a:solidFill>
                <a:latin typeface="Arial"/>
                <a:ea typeface="Arial"/>
                <a:cs typeface="Arial"/>
              </a:rPr>
              <a:t>נָכוֹן</a:t>
            </a:r>
          </a:p>
        </p:txBody>
      </p:sp>
      <p:sp>
        <p:nvSpPr>
          <p:cNvPr id="13" name="Rounded Rectangle 12"/>
          <p:cNvSpPr/>
          <p:nvPr/>
        </p:nvSpPr>
        <p:spPr>
          <a:xfrm>
            <a:off x="548640" y="2514600"/>
            <a:ext cx="5394960" cy="1463040"/>
          </a:xfrm>
          <a:prstGeom prst="roundRect">
            <a:avLst>
              <a:gd name="adj" fmla="val 20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14600"/>
            <a:ext cx="5394960" cy="1463040"/>
          </a:xfrm>
          <a:prstGeom prst="rect">
            <a:avLst/>
          </a:prstGeom>
          <a:noFill/>
        </p:spPr>
        <p:txBody>
          <a:bodyPr wrap="square" tIns="27432" bIns="27432" anchor="ctr">
            <a:spAutoFit/>
          </a:bodyPr>
          <a:lstStyle/>
          <a:p>
            <a:pPr rtl="1" algn="ctr">
              <a:lnSpc>
                <a:spcPct val="100000"/>
              </a:lnSpc>
              <a:spcAft>
                <a:spcPts val="0"/>
              </a:spcAft>
            </a:pPr>
            <a:r>
              <a:rPr sz="4000" b="1" lang="he-IL" altLang="en-US">
                <a:solidFill>
                  <a:srgbClr val="FFFFFF"/>
                </a:solidFill>
                <a:latin typeface="Arial"/>
                <a:ea typeface="Arial"/>
                <a:cs typeface="Arial"/>
              </a:rPr>
              <a:t>✓  לֹא נָכוֹן</a:t>
            </a:r>
          </a:p>
        </p:txBody>
      </p:sp>
      <p:sp>
        <p:nvSpPr>
          <p:cNvPr id="15" name="Rounded Rectangle 14"/>
          <p:cNvSpPr/>
          <p:nvPr/>
        </p:nvSpPr>
        <p:spPr>
          <a:xfrm>
            <a:off x="457200" y="4160520"/>
            <a:ext cx="11277295" cy="2011680"/>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42655" y="3941063"/>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42655" y="3941063"/>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ט״ו</a:t>
            </a:r>
          </a:p>
        </p:txBody>
      </p:sp>
      <p:sp>
        <p:nvSpPr>
          <p:cNvPr id="18" name="TextBox 17"/>
          <p:cNvSpPr txBox="1"/>
          <p:nvPr/>
        </p:nvSpPr>
        <p:spPr>
          <a:xfrm>
            <a:off x="685800" y="4361688"/>
            <a:ext cx="10820095" cy="1755648"/>
          </a:xfrm>
          <a:prstGeom prst="rect">
            <a:avLst/>
          </a:prstGeom>
          <a:noFill/>
        </p:spPr>
        <p:txBody>
          <a:bodyPr wrap="square" tIns="27432" bIns="27432" anchor="ctr">
            <a:spAutoFit/>
          </a:bodyPr>
          <a:lstStyle/>
          <a:p>
            <a:pPr rtl="1" algn="r">
              <a:lnSpc>
                <a:spcPct val="100000"/>
              </a:lnSpc>
              <a:spcAft>
                <a:spcPts val="400"/>
              </a:spcAft>
            </a:pPr>
            <a:r>
              <a:rPr sz="2500" b="1" lang="he-IL" altLang="en-US">
                <a:solidFill>
                  <a:srgbClr val="23305E"/>
                </a:solidFill>
                <a:latin typeface="Arial"/>
                <a:ea typeface="Arial"/>
                <a:cs typeface="Arial"/>
              </a:rPr>
              <a:t>עַד אֲשֶׁר־יָנִיחַ ה׳ לַאֲחֵיכֶם כָּכֶם וְיָרְשׁוּ גַם־הֵמָּה אֶת־הָאָרֶץ אֲשֶׁר־ה׳ אֱלֹקֵיכֶם נֹתֵן לָהֶם וְשַׁבְתֶּם לְאֶרֶץ יְרֻשַּׁתְכֶם</a:t>
            </a:r>
          </a:p>
          <a:p>
            <a:pPr rtl="1" algn="r">
              <a:lnSpc>
                <a:spcPct val="100000"/>
              </a:lnSpc>
              <a:spcAft>
                <a:spcPts val="0"/>
              </a:spcAft>
            </a:pPr>
            <a:r>
              <a:rPr sz="2200" b="0" lang="he-IL" altLang="en-US">
                <a:solidFill>
                  <a:srgbClr val="2B2B3A"/>
                </a:solidFill>
                <a:latin typeface="Arial"/>
                <a:ea typeface="Arial"/>
                <a:cs typeface="Arial"/>
              </a:rPr>
              <a:t>לא נכון! רק ״עַד אֲשֶׁר־יָנִיחַ ה׳ לַאֲחֵיכֶם״ – אחרי שגם האחים יקבלו את הארץ, חוזרים הביתה.</a:t>
            </a:r>
          </a:p>
        </p:txBody>
      </p:sp>
      <p:sp>
        <p:nvSpPr>
          <p:cNvPr id="19" name="Rounded Rectangle 18">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1" name="Rectangle 20"/>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8</a:t>
            </a:r>
          </a:p>
        </p:txBody>
      </p:sp>
      <p:sp>
        <p:nvSpPr>
          <p:cNvPr id="5" name="Rounded Rectangle 4"/>
          <p:cNvSpPr/>
          <p:nvPr/>
        </p:nvSpPr>
        <p:spPr>
          <a:xfrm>
            <a:off x="320040" y="429768"/>
            <a:ext cx="5925312" cy="585216"/>
          </a:xfrm>
          <a:prstGeom prst="roundRect">
            <a:avLst>
              <a:gd name="adj" fmla="val 50000"/>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925312"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הַשְׁלִימִי אֶת הַפָּסוּק</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״כֹּל אֲשֶׁר־צִוִּיתָנוּ ________
וְאֶל־כָּל־אֲשֶׁר תִּשְׁלָחֵנוּ נֵלֵךְ״</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נִשְׁמַע</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נִלְמַד</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נַעֲשֶׂה</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נִזְכֹּר</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8</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״כֹּל אֲשֶׁר־צִוִּיתָנוּ ________
וְאֶל־כָּל־אֲשֶׁר תִּשְׁלָחֵנוּ נֵלֵךְ״</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נִשְׁמַע</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נִלְמַד</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נַעֲשֶׂה</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נִזְכֹּר</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ט״ז</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וַיַּעֲנוּ אֶת־יְהוֹשֻׁעַ לֵאמֹר כֹּל אֲשֶׁר־צִוִּיתָנוּ נַעֲשֶׂה וְאֶל־כָּל־אֲשֶׁר תִּשְׁלָחֵנוּ נֵלֵךְ׃</a:t>
            </a:r>
          </a:p>
          <a:p>
            <a:pPr rtl="1" algn="r">
              <a:lnSpc>
                <a:spcPct val="100000"/>
              </a:lnSpc>
              <a:spcAft>
                <a:spcPts val="0"/>
              </a:spcAft>
            </a:pPr>
            <a:r>
              <a:rPr sz="2200" b="0" lang="he-IL" altLang="en-US">
                <a:solidFill>
                  <a:srgbClr val="2B2B3A"/>
                </a:solidFill>
                <a:latin typeface="Arial"/>
                <a:ea typeface="Arial"/>
                <a:cs typeface="Arial"/>
              </a:rPr>
              <a:t>העם הבטיח ליהושע: נעשה כל מה שתצווה, ונלך לכל מקום שתשלח אותנו.</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9</a:t>
            </a:r>
          </a:p>
        </p:txBody>
      </p:sp>
      <p:sp>
        <p:nvSpPr>
          <p:cNvPr id="5" name="Rounded Rectangle 4"/>
          <p:cNvSpPr/>
          <p:nvPr/>
        </p:nvSpPr>
        <p:spPr>
          <a:xfrm>
            <a:off x="320040" y="429768"/>
            <a:ext cx="4088465" cy="585216"/>
          </a:xfrm>
          <a:prstGeom prst="roundRect">
            <a:avLst>
              <a:gd name="adj" fmla="val 5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4088465"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מִי אָמַר לְמִי?</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״רַק יִהְיֶה ה׳ אֱלֹקֶיךָ עִמָּךְ כַּאֲשֶׁר הָיָה עִם־מֹשֶׁה״
מִי אָמַר לְמִי?</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העם ליהושע</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ה׳ ליהושע</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יהושע לשוטרים</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משה ליהושע</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9</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״רַק יִהְיֶה ה׳ אֱלֹקֶיךָ עִמָּךְ כַּאֲשֶׁר הָיָה עִם־מֹשֶׁה״
מִי אָמַר לְמִי?</a:t>
            </a:r>
          </a:p>
        </p:txBody>
      </p:sp>
      <p:sp>
        <p:nvSpPr>
          <p:cNvPr id="11" name="Rounded Rectangle 10"/>
          <p:cNvSpPr/>
          <p:nvPr/>
        </p:nvSpPr>
        <p:spPr>
          <a:xfrm>
            <a:off x="6236208" y="248716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העם ליהושע</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ה׳ ליהושע</a:t>
            </a:r>
          </a:p>
        </p:txBody>
      </p:sp>
      <p:sp>
        <p:nvSpPr>
          <p:cNvPr id="19" name="Rounded Rectangle 18"/>
          <p:cNvSpPr/>
          <p:nvPr/>
        </p:nvSpPr>
        <p:spPr>
          <a:xfrm>
            <a:off x="6236208"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ג</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יהושע לשוטרים</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משה ליהושע</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פְּסוּקִים ט״ז–י״ז</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400" b="1" lang="he-IL" altLang="en-US">
                <a:solidFill>
                  <a:srgbClr val="23305E"/>
                </a:solidFill>
                <a:latin typeface="Arial"/>
                <a:ea typeface="Arial"/>
                <a:cs typeface="Arial"/>
              </a:rPr>
              <a:t>וַיַּעֲנוּ אֶת־יְהוֹשֻׁעַ לֵאמֹר</a:t>
            </a:r>
          </a:p>
          <a:p>
            <a:pPr rtl="1" algn="r">
              <a:lnSpc>
                <a:spcPct val="100000"/>
              </a:lnSpc>
              <a:spcAft>
                <a:spcPts val="400"/>
              </a:spcAft>
            </a:pPr>
            <a:r>
              <a:rPr sz="2400" b="1" lang="he-IL" altLang="en-US">
                <a:solidFill>
                  <a:srgbClr val="23305E"/>
                </a:solidFill>
                <a:latin typeface="Arial"/>
                <a:ea typeface="Arial"/>
                <a:cs typeface="Arial"/>
              </a:rPr>
              <a:t>כְּכֹל אֲשֶׁר־שָׁמַעְנוּ אֶל־מֹשֶׁה כֵּן נִשְׁמַע אֵלֶיךָ רַק יִהְיֶה ה׳ אֱלֹקֶיךָ עִמָּךְ כַּאֲשֶׁר הָיָה עִם־מֹשֶׁה׃</a:t>
            </a:r>
          </a:p>
          <a:p>
            <a:pPr rtl="1" algn="r">
              <a:lnSpc>
                <a:spcPct val="100000"/>
              </a:lnSpc>
              <a:spcAft>
                <a:spcPts val="0"/>
              </a:spcAft>
            </a:pPr>
            <a:r>
              <a:rPr sz="2200" b="0" lang="he-IL" altLang="en-US">
                <a:solidFill>
                  <a:srgbClr val="2B2B3A"/>
                </a:solidFill>
                <a:latin typeface="Arial"/>
                <a:ea typeface="Arial"/>
                <a:cs typeface="Arial"/>
              </a:rPr>
              <a:t>העם ענה ליהושע: נשמע לך כמו ששמענו למשה – ובירך אותו שה׳ יהיה איתו.</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10</a:t>
            </a:r>
          </a:p>
        </p:txBody>
      </p:sp>
      <p:sp>
        <p:nvSpPr>
          <p:cNvPr id="5" name="Rounded Rectangle 4"/>
          <p:cNvSpPr/>
          <p:nvPr/>
        </p:nvSpPr>
        <p:spPr>
          <a:xfrm>
            <a:off x="320040" y="429768"/>
            <a:ext cx="5925312" cy="585216"/>
          </a:xfrm>
          <a:prstGeom prst="roundRect">
            <a:avLst>
              <a:gd name="adj" fmla="val 50000"/>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5925312"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הַשְׁלִימִי אֶת הַפָּסוּק</a:t>
            </a:r>
          </a:p>
        </p:txBody>
      </p:sp>
      <p:sp>
        <p:nvSpPr>
          <p:cNvPr id="7" name="Rounded Rectangle 6"/>
          <p:cNvSpPr/>
          <p:nvPr/>
        </p:nvSpPr>
        <p:spPr>
          <a:xfrm>
            <a:off x="457200" y="1325880"/>
            <a:ext cx="11277295" cy="1691640"/>
          </a:xfrm>
          <a:prstGeom prst="roundRect">
            <a:avLst>
              <a:gd name="adj" fmla="val 15000"/>
            </a:avLst>
          </a:prstGeom>
          <a:solidFill>
            <a:srgbClr val="FFFFFF"/>
          </a:solidFill>
          <a:ln w="381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10820095" cy="1691640"/>
          </a:xfrm>
          <a:prstGeom prst="rect">
            <a:avLst/>
          </a:prstGeom>
          <a:noFill/>
        </p:spPr>
        <p:txBody>
          <a:bodyPr wrap="square" tIns="27432" bIns="27432" anchor="ctr">
            <a:spAutoFit/>
          </a:bodyPr>
          <a:lstStyle/>
          <a:p>
            <a:pPr rtl="1" algn="ctr">
              <a:lnSpc>
                <a:spcPct val="105000"/>
              </a:lnSpc>
              <a:spcAft>
                <a:spcPts val="0"/>
              </a:spcAft>
            </a:pPr>
            <a:r>
              <a:rPr sz="3400" b="1" lang="he-IL" altLang="en-US">
                <a:solidFill>
                  <a:srgbClr val="23305E"/>
                </a:solidFill>
                <a:latin typeface="Arial"/>
                <a:ea typeface="Arial"/>
                <a:cs typeface="Arial"/>
              </a:rPr>
              <a:t>אֵיךְ מִסְתַּיֵּם פֶּרֶק א׳? הַשְׁלִימִי:
״רַק ________״</a:t>
            </a:r>
          </a:p>
        </p:txBody>
      </p:sp>
      <p:sp>
        <p:nvSpPr>
          <p:cNvPr id="9" name="Rounded Rectangle 8"/>
          <p:cNvSpPr/>
          <p:nvPr/>
        </p:nvSpPr>
        <p:spPr>
          <a:xfrm>
            <a:off x="6236208" y="3200400"/>
            <a:ext cx="5486400" cy="1325880"/>
          </a:xfrm>
          <a:prstGeom prst="roundRect">
            <a:avLst>
              <a:gd name="adj" fmla="val 22000"/>
            </a:avLst>
          </a:prstGeom>
          <a:solidFill>
            <a:srgbClr val="E8434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9336"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89336"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E8434F"/>
                </a:solidFill>
                <a:latin typeface="Arial"/>
                <a:ea typeface="Arial"/>
                <a:cs typeface="Arial"/>
              </a:rPr>
              <a:t>א</a:t>
            </a:r>
          </a:p>
        </p:txBody>
      </p:sp>
      <p:sp>
        <p:nvSpPr>
          <p:cNvPr id="12" name="TextBox 11"/>
          <p:cNvSpPr txBox="1"/>
          <p:nvPr/>
        </p:nvSpPr>
        <p:spPr>
          <a:xfrm>
            <a:off x="6419088"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לֵךְ לְשָׁלוֹם</a:t>
            </a:r>
          </a:p>
        </p:txBody>
      </p:sp>
      <p:sp>
        <p:nvSpPr>
          <p:cNvPr id="13" name="Rounded Rectangle 12"/>
          <p:cNvSpPr/>
          <p:nvPr/>
        </p:nvSpPr>
        <p:spPr>
          <a:xfrm>
            <a:off x="457200" y="3200400"/>
            <a:ext cx="5486400" cy="1325880"/>
          </a:xfrm>
          <a:prstGeom prst="roundRect">
            <a:avLst>
              <a:gd name="adj" fmla="val 22000"/>
            </a:avLst>
          </a:prstGeom>
          <a:solidFill>
            <a:srgbClr val="2F80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10328" y="342900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342900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2F80ED"/>
                </a:solidFill>
                <a:latin typeface="Arial"/>
                <a:ea typeface="Arial"/>
                <a:cs typeface="Arial"/>
              </a:rPr>
              <a:t>ב</a:t>
            </a:r>
          </a:p>
        </p:txBody>
      </p:sp>
      <p:sp>
        <p:nvSpPr>
          <p:cNvPr id="16" name="TextBox 15"/>
          <p:cNvSpPr txBox="1"/>
          <p:nvPr/>
        </p:nvSpPr>
        <p:spPr>
          <a:xfrm>
            <a:off x="640080" y="320040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בָּרוּךְ הַבָּא</a:t>
            </a:r>
          </a:p>
        </p:txBody>
      </p:sp>
      <p:sp>
        <p:nvSpPr>
          <p:cNvPr id="17" name="Rounded Rectangle 16"/>
          <p:cNvSpPr/>
          <p:nvPr/>
        </p:nvSpPr>
        <p:spPr>
          <a:xfrm>
            <a:off x="6236208" y="4709160"/>
            <a:ext cx="5486400" cy="1325880"/>
          </a:xfrm>
          <a:prstGeom prst="roundRect">
            <a:avLst>
              <a:gd name="adj" fmla="val 22000"/>
            </a:avLst>
          </a:prstGeom>
          <a:solidFill>
            <a:srgbClr val="F2994A"/>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9336"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89336"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F2994A"/>
                </a:solidFill>
                <a:latin typeface="Arial"/>
                <a:ea typeface="Arial"/>
                <a:cs typeface="Arial"/>
              </a:rPr>
              <a:t>ג</a:t>
            </a:r>
          </a:p>
        </p:txBody>
      </p:sp>
      <p:sp>
        <p:nvSpPr>
          <p:cNvPr id="20" name="TextBox 19"/>
          <p:cNvSpPr txBox="1"/>
          <p:nvPr/>
        </p:nvSpPr>
        <p:spPr>
          <a:xfrm>
            <a:off x="6419088"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חֲזַק וֶאֱמָץ</a:t>
            </a:r>
          </a:p>
        </p:txBody>
      </p:sp>
      <p:sp>
        <p:nvSpPr>
          <p:cNvPr id="21" name="Rounded Rectangle 20"/>
          <p:cNvSpPr/>
          <p:nvPr/>
        </p:nvSpPr>
        <p:spPr>
          <a:xfrm>
            <a:off x="457200" y="4709160"/>
            <a:ext cx="5486400" cy="1325880"/>
          </a:xfrm>
          <a:prstGeom prst="roundRect">
            <a:avLst>
              <a:gd name="adj" fmla="val 22000"/>
            </a:avLst>
          </a:prstGeom>
          <a:solidFill>
            <a:srgbClr val="9B51E0"/>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328" y="49377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4937760"/>
            <a:ext cx="868680" cy="868680"/>
          </a:xfrm>
          <a:prstGeom prst="rect">
            <a:avLst/>
          </a:prstGeom>
          <a:noFill/>
        </p:spPr>
        <p:txBody>
          <a:bodyPr wrap="square" lIns="0" rIns="0" tIns="27432" bIns="27432" anchor="ctr">
            <a:spAutoFit/>
          </a:bodyPr>
          <a:lstStyle/>
          <a:p>
            <a:pPr rtl="1" algn="ctr">
              <a:lnSpc>
                <a:spcPct val="100000"/>
              </a:lnSpc>
              <a:spcAft>
                <a:spcPts val="0"/>
              </a:spcAft>
            </a:pPr>
            <a:r>
              <a:rPr sz="3200" b="1" lang="he-IL" altLang="en-US">
                <a:solidFill>
                  <a:srgbClr val="9B51E0"/>
                </a:solidFill>
                <a:latin typeface="Arial"/>
                <a:ea typeface="Arial"/>
                <a:cs typeface="Arial"/>
              </a:rPr>
              <a:t>ד</a:t>
            </a:r>
          </a:p>
        </p:txBody>
      </p:sp>
      <p:sp>
        <p:nvSpPr>
          <p:cNvPr id="24" name="TextBox 23"/>
          <p:cNvSpPr txBox="1"/>
          <p:nvPr/>
        </p:nvSpPr>
        <p:spPr>
          <a:xfrm>
            <a:off x="640080" y="4709160"/>
            <a:ext cx="4114800" cy="1325880"/>
          </a:xfrm>
          <a:prstGeom prst="rect">
            <a:avLst/>
          </a:prstGeom>
          <a:noFill/>
        </p:spPr>
        <p:txBody>
          <a:bodyPr wrap="square" lIns="45720" rIns="45720"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שְׁמַע יִשְׂרָאֵל</a:t>
            </a:r>
          </a:p>
        </p:txBody>
      </p:sp>
      <p:sp>
        <p:nvSpPr>
          <p:cNvPr id="25" name="Rounded Rectangle 24">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27" name="Rectangle 26"/>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7E6"/>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23305E"/>
                </a:solidFill>
                <a:latin typeface="Arial"/>
                <a:ea typeface="Arial"/>
                <a:cs typeface="Arial"/>
              </a:rPr>
              <a:t>ב״ה</a:t>
            </a:r>
          </a:p>
        </p:txBody>
      </p:sp>
      <p:sp>
        <p:nvSpPr>
          <p:cNvPr id="3" name="Rectangle 2"/>
          <p:cNvSpPr/>
          <p:nvPr/>
        </p:nvSpPr>
        <p:spPr>
          <a:xfrm>
            <a:off x="0" y="329184"/>
            <a:ext cx="12191695" cy="786384"/>
          </a:xfrm>
          <a:prstGeom prst="rect">
            <a:avLst/>
          </a:prstGeom>
          <a:solidFill>
            <a:srgbClr val="4B2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45375" y="329184"/>
            <a:ext cx="4572000" cy="786384"/>
          </a:xfrm>
          <a:prstGeom prst="rect">
            <a:avLst/>
          </a:prstGeom>
          <a:noFill/>
        </p:spPr>
        <p:txBody>
          <a:bodyPr wrap="square" tIns="27432" bIns="27432" anchor="ctr">
            <a:spAutoFit/>
          </a:bodyPr>
          <a:lstStyle/>
          <a:p>
            <a:pPr rtl="1" algn="r">
              <a:lnSpc>
                <a:spcPct val="100000"/>
              </a:lnSpc>
              <a:spcAft>
                <a:spcPts val="0"/>
              </a:spcAft>
            </a:pPr>
            <a:r>
              <a:rPr sz="2800" b="1" lang="he-IL" altLang="en-US">
                <a:solidFill>
                  <a:srgbClr val="FFFFFF"/>
                </a:solidFill>
                <a:latin typeface="Arial"/>
                <a:ea typeface="Arial"/>
                <a:cs typeface="Arial"/>
              </a:rPr>
              <a:t>חִידוֹן ב׳  ·  שְׁאֵלָה 10</a:t>
            </a:r>
          </a:p>
        </p:txBody>
      </p:sp>
      <p:sp>
        <p:nvSpPr>
          <p:cNvPr id="5" name="Rounded Rectangle 4"/>
          <p:cNvSpPr/>
          <p:nvPr/>
        </p:nvSpPr>
        <p:spPr>
          <a:xfrm>
            <a:off x="320040" y="429768"/>
            <a:ext cx="3272088" cy="585216"/>
          </a:xfrm>
          <a:prstGeom prst="roundRect">
            <a:avLst>
              <a:gd name="adj" fmla="val 50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29768"/>
            <a:ext cx="3272088" cy="585216"/>
          </a:xfrm>
          <a:prstGeom prst="rect">
            <a:avLst/>
          </a:prstGeom>
          <a:noFill/>
        </p:spPr>
        <p:txBody>
          <a:bodyPr wrap="square" lIns="18288" rIns="18288" tIns="27432" bIns="27432" anchor="ctr">
            <a:spAutoFit/>
          </a:bodyPr>
          <a:lstStyle/>
          <a:p>
            <a:pPr rtl="1" algn="ctr">
              <a:lnSpc>
                <a:spcPct val="100000"/>
              </a:lnSpc>
              <a:spcAft>
                <a:spcPts val="0"/>
              </a:spcAft>
            </a:pPr>
            <a:r>
              <a:rPr sz="2400" b="1" lang="he-IL" altLang="en-US">
                <a:solidFill>
                  <a:srgbClr val="FFFFFF"/>
                </a:solidFill>
                <a:latin typeface="Arial"/>
                <a:ea typeface="Arial"/>
                <a:cs typeface="Arial"/>
              </a:rPr>
              <a:t>הַתְּשׁוּבָה</a:t>
            </a:r>
          </a:p>
        </p:txBody>
      </p:sp>
      <p:sp>
        <p:nvSpPr>
          <p:cNvPr id="7" name="5-Point Star 6"/>
          <p:cNvSpPr/>
          <p:nvPr/>
        </p:nvSpPr>
        <p:spPr>
          <a:xfrm>
            <a:off x="3657600" y="274320"/>
            <a:ext cx="868680" cy="86868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84048"/>
            <a:ext cx="868680" cy="731520"/>
          </a:xfrm>
          <a:prstGeom prst="rect">
            <a:avLst/>
          </a:prstGeom>
          <a:noFill/>
        </p:spPr>
        <p:txBody>
          <a:bodyPr wrap="square" lIns="0" rIns="0" tIns="27432" bIns="27432" anchor="ctr">
            <a:spAutoFit/>
          </a:bodyPr>
          <a:lstStyle/>
          <a:p>
            <a:pPr rtl="1" algn="ctr">
              <a:lnSpc>
                <a:spcPct val="100000"/>
              </a:lnSpc>
              <a:spcAft>
                <a:spcPts val="0"/>
              </a:spcAft>
            </a:pPr>
            <a:r>
              <a:rPr sz="1500" b="1" lang="he-IL" altLang="en-US">
                <a:solidFill>
                  <a:srgbClr val="4B2A8C"/>
                </a:solidFill>
                <a:latin typeface="Arial"/>
                <a:ea typeface="Arial"/>
                <a:cs typeface="Arial"/>
              </a:rPr>
              <a:t>+10</a:t>
            </a:r>
          </a:p>
        </p:txBody>
      </p:sp>
      <p:sp>
        <p:nvSpPr>
          <p:cNvPr id="9" name="Rounded Rectangle 8"/>
          <p:cNvSpPr/>
          <p:nvPr/>
        </p:nvSpPr>
        <p:spPr>
          <a:xfrm>
            <a:off x="457200" y="1261872"/>
            <a:ext cx="11277295" cy="1097280"/>
          </a:xfrm>
          <a:prstGeom prst="roundRect">
            <a:avLst>
              <a:gd name="adj" fmla="val 15000"/>
            </a:avLst>
          </a:prstGeom>
          <a:solidFill>
            <a:srgbClr val="FFFFFF"/>
          </a:solidFill>
          <a:ln w="2540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10911535" cy="1097280"/>
          </a:xfrm>
          <a:prstGeom prst="rect">
            <a:avLst/>
          </a:prstGeom>
          <a:noFill/>
        </p:spPr>
        <p:txBody>
          <a:bodyPr wrap="square" tIns="27432" bIns="27432" anchor="ctr">
            <a:spAutoFit/>
          </a:bodyPr>
          <a:lstStyle/>
          <a:p>
            <a:pPr rtl="1" algn="ctr">
              <a:lnSpc>
                <a:spcPct val="100000"/>
              </a:lnSpc>
              <a:spcAft>
                <a:spcPts val="0"/>
              </a:spcAft>
            </a:pPr>
            <a:r>
              <a:rPr sz="2400" b="1" lang="he-IL" altLang="en-US">
                <a:solidFill>
                  <a:srgbClr val="23305E"/>
                </a:solidFill>
                <a:latin typeface="Arial"/>
                <a:ea typeface="Arial"/>
                <a:cs typeface="Arial"/>
              </a:rPr>
              <a:t>אֵיךְ מִסְתַּיֵּם פֶּרֶק א׳? הַשְׁלִימִי:
״רַק ________״</a:t>
            </a:r>
          </a:p>
        </p:txBody>
      </p:sp>
      <p:sp>
        <p:nvSpPr>
          <p:cNvPr id="11" name="Rounded Rectangle 10"/>
          <p:cNvSpPr/>
          <p:nvPr/>
        </p:nvSpPr>
        <p:spPr>
          <a:xfrm>
            <a:off x="6236208"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29492"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29492"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א</a:t>
            </a:r>
          </a:p>
        </p:txBody>
      </p:sp>
      <p:sp>
        <p:nvSpPr>
          <p:cNvPr id="14" name="TextBox 13"/>
          <p:cNvSpPr txBox="1"/>
          <p:nvPr/>
        </p:nvSpPr>
        <p:spPr>
          <a:xfrm>
            <a:off x="6419088"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לֵךְ לְשָׁלוֹם</a:t>
            </a:r>
          </a:p>
        </p:txBody>
      </p:sp>
      <p:sp>
        <p:nvSpPr>
          <p:cNvPr id="15" name="Rounded Rectangle 14"/>
          <p:cNvSpPr/>
          <p:nvPr/>
        </p:nvSpPr>
        <p:spPr>
          <a:xfrm>
            <a:off x="457200" y="248716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0484" y="261152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0484" y="261152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ב</a:t>
            </a:r>
          </a:p>
        </p:txBody>
      </p:sp>
      <p:sp>
        <p:nvSpPr>
          <p:cNvPr id="18" name="TextBox 17"/>
          <p:cNvSpPr txBox="1"/>
          <p:nvPr/>
        </p:nvSpPr>
        <p:spPr>
          <a:xfrm>
            <a:off x="640080" y="248716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בָּרוּךְ הַבָּא</a:t>
            </a:r>
          </a:p>
        </p:txBody>
      </p:sp>
      <p:sp>
        <p:nvSpPr>
          <p:cNvPr id="19" name="Rounded Rectangle 18"/>
          <p:cNvSpPr/>
          <p:nvPr/>
        </p:nvSpPr>
        <p:spPr>
          <a:xfrm>
            <a:off x="6236208" y="3355848"/>
            <a:ext cx="5486400" cy="777240"/>
          </a:xfrm>
          <a:prstGeom prst="roundRect">
            <a:avLst>
              <a:gd name="adj" fmla="val 22000"/>
            </a:avLst>
          </a:prstGeom>
          <a:solidFill>
            <a:srgbClr val="27AE60"/>
          </a:solidFill>
          <a:ln w="50800">
            <a:solidFill>
              <a:srgbClr val="233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29492"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29492"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27AE60"/>
                </a:solidFill>
                <a:latin typeface="Arial"/>
                <a:ea typeface="Arial"/>
                <a:cs typeface="Arial"/>
              </a:rPr>
              <a:t>✓</a:t>
            </a:r>
          </a:p>
        </p:txBody>
      </p:sp>
      <p:sp>
        <p:nvSpPr>
          <p:cNvPr id="22" name="TextBox 21"/>
          <p:cNvSpPr txBox="1"/>
          <p:nvPr/>
        </p:nvSpPr>
        <p:spPr>
          <a:xfrm>
            <a:off x="6419088"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FFFFFF"/>
                </a:solidFill>
                <a:latin typeface="Arial"/>
                <a:ea typeface="Arial"/>
                <a:cs typeface="Arial"/>
              </a:rPr>
              <a:t>חֲזַק וֶאֱמָץ</a:t>
            </a:r>
          </a:p>
        </p:txBody>
      </p:sp>
      <p:sp>
        <p:nvSpPr>
          <p:cNvPr id="23" name="Rounded Rectangle 22"/>
          <p:cNvSpPr/>
          <p:nvPr/>
        </p:nvSpPr>
        <p:spPr>
          <a:xfrm>
            <a:off x="457200" y="3355848"/>
            <a:ext cx="5486400" cy="777240"/>
          </a:xfrm>
          <a:prstGeom prst="roundRect">
            <a:avLst>
              <a:gd name="adj" fmla="val 22000"/>
            </a:avLst>
          </a:prstGeom>
          <a:solidFill>
            <a:srgbClr val="D9DCE1"/>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50484" y="3480206"/>
            <a:ext cx="528523" cy="5285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0484" y="3480206"/>
            <a:ext cx="528523" cy="528523"/>
          </a:xfrm>
          <a:prstGeom prst="rect">
            <a:avLst/>
          </a:prstGeom>
          <a:noFill/>
        </p:spPr>
        <p:txBody>
          <a:bodyPr wrap="square" lIns="0" rIns="0" tIns="27432" bIns="27432" anchor="ctr">
            <a:spAutoFit/>
          </a:bodyPr>
          <a:lstStyle/>
          <a:p>
            <a:pPr rtl="1" algn="ctr">
              <a:lnSpc>
                <a:spcPct val="100000"/>
              </a:lnSpc>
              <a:spcAft>
                <a:spcPts val="0"/>
              </a:spcAft>
            </a:pPr>
            <a:r>
              <a:rPr sz="2600" b="1" lang="he-IL" altLang="en-US">
                <a:solidFill>
                  <a:srgbClr val="8A8F99"/>
                </a:solidFill>
                <a:latin typeface="Arial"/>
                <a:ea typeface="Arial"/>
                <a:cs typeface="Arial"/>
              </a:rPr>
              <a:t>ד</a:t>
            </a:r>
          </a:p>
        </p:txBody>
      </p:sp>
      <p:sp>
        <p:nvSpPr>
          <p:cNvPr id="26" name="TextBox 25"/>
          <p:cNvSpPr txBox="1"/>
          <p:nvPr/>
        </p:nvSpPr>
        <p:spPr>
          <a:xfrm>
            <a:off x="640080" y="3355848"/>
            <a:ext cx="4454956" cy="777240"/>
          </a:xfrm>
          <a:prstGeom prst="rect">
            <a:avLst/>
          </a:prstGeom>
          <a:noFill/>
        </p:spPr>
        <p:txBody>
          <a:bodyPr wrap="square" lIns="45720" rIns="45720" tIns="27432" bIns="27432" anchor="ctr">
            <a:spAutoFit/>
          </a:bodyPr>
          <a:lstStyle/>
          <a:p>
            <a:pPr rtl="1" algn="r">
              <a:lnSpc>
                <a:spcPct val="100000"/>
              </a:lnSpc>
              <a:spcAft>
                <a:spcPts val="0"/>
              </a:spcAft>
            </a:pPr>
            <a:r>
              <a:rPr sz="2200" b="1" lang="he-IL" altLang="en-US">
                <a:solidFill>
                  <a:srgbClr val="8A8F99"/>
                </a:solidFill>
                <a:latin typeface="Arial"/>
                <a:ea typeface="Arial"/>
                <a:cs typeface="Arial"/>
              </a:rPr>
              <a:t>שְׁמַע יִשְׂרָאֵל</a:t>
            </a:r>
          </a:p>
        </p:txBody>
      </p:sp>
      <p:sp>
        <p:nvSpPr>
          <p:cNvPr id="27" name="Rounded Rectangle 26"/>
          <p:cNvSpPr/>
          <p:nvPr/>
        </p:nvSpPr>
        <p:spPr>
          <a:xfrm>
            <a:off x="457200" y="4279392"/>
            <a:ext cx="11277295" cy="1892808"/>
          </a:xfrm>
          <a:prstGeom prst="roundRect">
            <a:avLst>
              <a:gd name="adj" fmla="val 12000"/>
            </a:avLst>
          </a:prstGeom>
          <a:solidFill>
            <a:srgbClr val="FFF1C7"/>
          </a:solidFill>
          <a:ln w="38100">
            <a:solidFill>
              <a:srgbClr val="FFC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42655" y="4059935"/>
            <a:ext cx="3108960" cy="457200"/>
          </a:xfrm>
          <a:prstGeom prst="roundRect">
            <a:avLst>
              <a:gd name="adj" fmla="val 50000"/>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42655" y="4059935"/>
            <a:ext cx="3108960" cy="457200"/>
          </a:xfrm>
          <a:prstGeom prst="rect">
            <a:avLst/>
          </a:prstGeom>
          <a:noFill/>
        </p:spPr>
        <p:txBody>
          <a:bodyPr wrap="square" lIns="18288" rIns="18288" tIns="27432" bIns="27432" anchor="ctr">
            <a:spAutoFit/>
          </a:bodyPr>
          <a:lstStyle/>
          <a:p>
            <a:pPr rtl="1" algn="ctr">
              <a:lnSpc>
                <a:spcPct val="100000"/>
              </a:lnSpc>
              <a:spcAft>
                <a:spcPts val="0"/>
              </a:spcAft>
            </a:pPr>
            <a:r>
              <a:rPr sz="1800" b="1" lang="he-IL" altLang="en-US">
                <a:solidFill>
                  <a:srgbClr val="2B2B3A"/>
                </a:solidFill>
                <a:latin typeface="Arial"/>
                <a:ea typeface="Arial"/>
                <a:cs typeface="Arial"/>
              </a:rPr>
              <a:t>יְהוֹשֻׁעַ א׳, פָּסוּק י״ח</a:t>
            </a:r>
          </a:p>
        </p:txBody>
      </p:sp>
      <p:sp>
        <p:nvSpPr>
          <p:cNvPr id="30" name="TextBox 29"/>
          <p:cNvSpPr txBox="1"/>
          <p:nvPr/>
        </p:nvSpPr>
        <p:spPr>
          <a:xfrm>
            <a:off x="685800" y="4480559"/>
            <a:ext cx="10820095" cy="1636776"/>
          </a:xfrm>
          <a:prstGeom prst="rect">
            <a:avLst/>
          </a:prstGeom>
          <a:noFill/>
        </p:spPr>
        <p:txBody>
          <a:bodyPr wrap="square" tIns="27432" bIns="27432" anchor="ctr">
            <a:spAutoFit/>
          </a:bodyPr>
          <a:lstStyle/>
          <a:p>
            <a:pPr rtl="1" algn="r">
              <a:lnSpc>
                <a:spcPct val="100000"/>
              </a:lnSpc>
              <a:spcAft>
                <a:spcPts val="400"/>
              </a:spcAft>
            </a:pPr>
            <a:r>
              <a:rPr sz="2600" b="1" lang="he-IL" altLang="en-US">
                <a:solidFill>
                  <a:srgbClr val="23305E"/>
                </a:solidFill>
                <a:latin typeface="Arial"/>
                <a:ea typeface="Arial"/>
                <a:cs typeface="Arial"/>
              </a:rPr>
              <a:t>כָּל־אִישׁ אֲשֶׁר־יַמְרֶה אֶת־פִּיךָ וְלֹא־יִשְׁמַע אֶת־דְּבָרֶיךָ לְכֹל אֲשֶׁר־תְּצַוֶּנּוּ יוּמָת רַק חֲזַק וֶאֱמָץ׃</a:t>
            </a:r>
          </a:p>
          <a:p>
            <a:pPr rtl="1" algn="r">
              <a:lnSpc>
                <a:spcPct val="100000"/>
              </a:lnSpc>
              <a:spcAft>
                <a:spcPts val="0"/>
              </a:spcAft>
            </a:pPr>
            <a:r>
              <a:rPr sz="2200" b="0" lang="he-IL" altLang="en-US">
                <a:solidFill>
                  <a:srgbClr val="2B2B3A"/>
                </a:solidFill>
                <a:latin typeface="Arial"/>
                <a:ea typeface="Arial"/>
                <a:cs typeface="Arial"/>
              </a:rPr>
              <a:t>הפרק מתחיל ונגמר ב״חֲזַק וֶאֱמָץ״ – בהתחלה ה׳ אומר את זה, ובסוף גם העם!</a:t>
            </a:r>
          </a:p>
        </p:txBody>
      </p:sp>
      <p:sp>
        <p:nvSpPr>
          <p:cNvPr id="31" name="Rounded Rectangle 30">
            <a:hlinkClick action="ppaction://hlinksldjump" r:id="rId3"/>
          </p:cNvPr>
          <p:cNvSpPr/>
          <p:nvPr/>
        </p:nvSpPr>
        <p:spPr>
          <a:xfrm>
            <a:off x="228600" y="6236208"/>
            <a:ext cx="1234440" cy="420624"/>
          </a:xfrm>
          <a:prstGeom prst="roundRect">
            <a:avLst>
              <a:gd name="adj" fmla="val 50000"/>
            </a:avLst>
          </a:prstGeom>
          <a:solidFill>
            <a:srgbClr val="FFFFFF"/>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4B2A8C"/>
                </a:solidFill>
                <a:latin typeface="Arial"/>
                <a:ea typeface="Arial"/>
                <a:cs typeface="Arial"/>
              </a:rPr>
              <a:t>⌂ תַּפְרִיט</a:t>
            </a:r>
          </a:p>
        </p:txBody>
      </p:sp>
      <p:sp>
        <p:nvSpPr>
          <p:cNvPr id="33" name="Rectangle 32"/>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E1A5E"/>
        </a:solidFill>
        <a:effectLst/>
      </p:bgPr>
    </p:bg>
    <p:spTree>
      <p:nvGrpSpPr>
        <p:cNvPr id="1" name=""/>
        <p:cNvGrpSpPr/>
        <p:nvPr/>
      </p:nvGrpSpPr>
      <p:grpSpPr/>
      <p:sp>
        <p:nvSpPr>
          <p:cNvPr id="2" name="TextBox 1"/>
          <p:cNvSpPr txBox="1"/>
          <p:nvPr/>
        </p:nvSpPr>
        <p:spPr>
          <a:xfrm>
            <a:off x="11231575" y="0"/>
            <a:ext cx="868680" cy="329184"/>
          </a:xfrm>
          <a:prstGeom prst="rect">
            <a:avLst/>
          </a:prstGeom>
          <a:noFill/>
        </p:spPr>
        <p:txBody>
          <a:bodyPr wrap="square" lIns="18288" rIns="18288" tIns="27432" bIns="27432" anchor="t">
            <a:spAutoFit/>
          </a:bodyPr>
          <a:lstStyle/>
          <a:p>
            <a:pPr rtl="1" algn="r">
              <a:lnSpc>
                <a:spcPct val="100000"/>
              </a:lnSpc>
              <a:spcAft>
                <a:spcPts val="0"/>
              </a:spcAft>
            </a:pPr>
            <a:r>
              <a:rPr sz="1400" b="1" lang="he-IL" altLang="en-US">
                <a:solidFill>
                  <a:srgbClr val="FFFFFF"/>
                </a:solidFill>
                <a:latin typeface="Arial"/>
                <a:ea typeface="Arial"/>
                <a:cs typeface="Arial"/>
              </a:rPr>
              <a:t>ב״ה</a:t>
            </a:r>
          </a:p>
        </p:txBody>
      </p:sp>
      <p:sp>
        <p:nvSpPr>
          <p:cNvPr id="3" name="5-Point Star 2"/>
          <p:cNvSpPr/>
          <p:nvPr/>
        </p:nvSpPr>
        <p:spPr>
          <a:xfrm>
            <a:off x="731520" y="640080"/>
            <a:ext cx="1005840" cy="100584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10515600" y="731520"/>
            <a:ext cx="822960" cy="82296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1097280" y="4480560"/>
            <a:ext cx="731520" cy="73152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0241280" y="4206240"/>
            <a:ext cx="1005840" cy="1005840"/>
          </a:xfrm>
          <a:prstGeom prst="star5">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2926080" y="457200"/>
            <a:ext cx="457200" cy="457200"/>
          </a:xfrm>
          <a:prstGeom prst="star5">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8778240" y="457200"/>
            <a:ext cx="502920" cy="502920"/>
          </a:xfrm>
          <a:prstGeom prst="star5">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4572000" y="5394960"/>
            <a:ext cx="457200" cy="457200"/>
          </a:xfrm>
          <a:prstGeom prst="star5">
            <a:avLst/>
          </a:prstGeom>
          <a:solidFill>
            <a:srgbClr val="F2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7315200" y="5394960"/>
            <a:ext cx="457200" cy="457200"/>
          </a:xfrm>
          <a:prstGeom prst="star5">
            <a:avLst/>
          </a:prstGeom>
          <a:solidFill>
            <a:srgbClr val="17A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1097280"/>
            <a:ext cx="9448495" cy="1737360"/>
          </a:xfrm>
          <a:prstGeom prst="rect">
            <a:avLst/>
          </a:prstGeom>
          <a:noFill/>
        </p:spPr>
        <p:txBody>
          <a:bodyPr wrap="square" tIns="27432" bIns="27432" anchor="ctr">
            <a:spAutoFit/>
          </a:bodyPr>
          <a:lstStyle/>
          <a:p>
            <a:pPr rtl="1" algn="ctr">
              <a:lnSpc>
                <a:spcPct val="100000"/>
              </a:lnSpc>
              <a:spcAft>
                <a:spcPts val="0"/>
              </a:spcAft>
            </a:pPr>
            <a:r>
              <a:rPr sz="9600" b="1" lang="he-IL" altLang="en-US">
                <a:solidFill>
                  <a:srgbClr val="FFC233"/>
                </a:solidFill>
                <a:latin typeface="Arial"/>
                <a:ea typeface="Arial"/>
                <a:cs typeface="Arial"/>
              </a:rPr>
              <a:t>כָּל הַכָּבוֹד!</a:t>
            </a:r>
          </a:p>
        </p:txBody>
      </p:sp>
      <p:sp>
        <p:nvSpPr>
          <p:cNvPr id="12" name="TextBox 11"/>
          <p:cNvSpPr txBox="1"/>
          <p:nvPr/>
        </p:nvSpPr>
        <p:spPr>
          <a:xfrm>
            <a:off x="1371600" y="2880360"/>
            <a:ext cx="9448495" cy="822960"/>
          </a:xfrm>
          <a:prstGeom prst="rect">
            <a:avLst/>
          </a:prstGeom>
          <a:noFill/>
        </p:spPr>
        <p:txBody>
          <a:bodyPr wrap="square" tIns="27432" bIns="27432" anchor="ctr">
            <a:spAutoFit/>
          </a:bodyPr>
          <a:lstStyle/>
          <a:p>
            <a:pPr rtl="1" algn="ctr">
              <a:lnSpc>
                <a:spcPct val="100000"/>
              </a:lnSpc>
              <a:spcAft>
                <a:spcPts val="0"/>
              </a:spcAft>
            </a:pPr>
            <a:r>
              <a:rPr sz="3600" b="1" lang="he-IL" altLang="en-US">
                <a:solidFill>
                  <a:srgbClr val="FFFFFF"/>
                </a:solidFill>
                <a:latin typeface="Arial"/>
                <a:ea typeface="Arial"/>
                <a:cs typeface="Arial"/>
              </a:rPr>
              <a:t>סִיַּמְנוּ אֶת פֶּרֶק א׳ בְּנָבִיא יְהוֹשֻׁעַ!</a:t>
            </a:r>
          </a:p>
        </p:txBody>
      </p:sp>
      <p:sp>
        <p:nvSpPr>
          <p:cNvPr id="13" name="TextBox 12"/>
          <p:cNvSpPr txBox="1"/>
          <p:nvPr/>
        </p:nvSpPr>
        <p:spPr>
          <a:xfrm>
            <a:off x="1371600" y="3657600"/>
            <a:ext cx="9448495" cy="822960"/>
          </a:xfrm>
          <a:prstGeom prst="rect">
            <a:avLst/>
          </a:prstGeom>
          <a:noFill/>
        </p:spPr>
        <p:txBody>
          <a:bodyPr wrap="square" tIns="27432" bIns="27432" anchor="ctr">
            <a:spAutoFit/>
          </a:bodyPr>
          <a:lstStyle/>
          <a:p>
            <a:pPr rtl="1" algn="ctr">
              <a:lnSpc>
                <a:spcPct val="100000"/>
              </a:lnSpc>
              <a:spcAft>
                <a:spcPts val="0"/>
              </a:spcAft>
            </a:pPr>
            <a:r>
              <a:rPr sz="2800" b="0" lang="he-IL" altLang="en-US">
                <a:solidFill>
                  <a:srgbClr val="FFFFFF"/>
                </a:solidFill>
                <a:latin typeface="Arial"/>
                <a:ea typeface="Arial"/>
                <a:cs typeface="Arial"/>
              </a:rPr>
              <a:t>וּכְמוֹ שֶׁהָעָם אָמַר לִיהוֹשֻׁעַ: ״רַק חֲזַק וֶאֱמָץ!״</a:t>
            </a:r>
          </a:p>
        </p:txBody>
      </p:sp>
      <p:sp>
        <p:nvSpPr>
          <p:cNvPr id="14" name="Rounded Rectangle 13">
            <a:hlinkClick action="ppaction://hlinksldjump" r:id="rId3"/>
          </p:cNvPr>
          <p:cNvSpPr/>
          <p:nvPr/>
        </p:nvSpPr>
        <p:spPr>
          <a:xfrm>
            <a:off x="228600" y="6236208"/>
            <a:ext cx="1234440" cy="420624"/>
          </a:xfrm>
          <a:prstGeom prst="roundRect">
            <a:avLst>
              <a:gd name="adj" fmla="val 50000"/>
            </a:avLst>
          </a:prstGeom>
          <a:solidFill>
            <a:srgbClr val="2E1A5E"/>
          </a:solidFill>
          <a:ln w="19050">
            <a:solidFill>
              <a:srgbClr val="4B2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3"/>
          </p:cNvPr>
          <p:cNvSpPr txBox="1"/>
          <p:nvPr/>
        </p:nvSpPr>
        <p:spPr>
          <a:xfrm>
            <a:off x="228600" y="6236208"/>
            <a:ext cx="1234440" cy="420624"/>
          </a:xfrm>
          <a:prstGeom prst="rect">
            <a:avLst/>
          </a:prstGeom>
          <a:noFill/>
        </p:spPr>
        <p:txBody>
          <a:bodyPr wrap="square" lIns="18288" rIns="18288" tIns="27432" bIns="27432" anchor="ctr">
            <a:spAutoFit/>
          </a:bodyPr>
          <a:lstStyle/>
          <a:p>
            <a:pPr rtl="1" algn="ctr">
              <a:lnSpc>
                <a:spcPct val="100000"/>
              </a:lnSpc>
              <a:spcAft>
                <a:spcPts val="0"/>
              </a:spcAft>
            </a:pPr>
            <a:r>
              <a:rPr sz="1400" b="1" lang="he-IL" altLang="en-US">
                <a:solidFill>
                  <a:srgbClr val="FFFFFF"/>
                </a:solidFill>
                <a:latin typeface="Arial"/>
                <a:ea typeface="Arial"/>
                <a:cs typeface="Arial"/>
              </a:rPr>
              <a:t>⌂ תַּפְרִיט</a:t>
            </a:r>
          </a:p>
        </p:txBody>
      </p:sp>
      <p:sp>
        <p:nvSpPr>
          <p:cNvPr id="16" name="Rectangle 15"/>
          <p:cNvSpPr/>
          <p:nvPr/>
        </p:nvSpPr>
        <p:spPr>
          <a:xfrm>
            <a:off x="0" y="6711696"/>
            <a:ext cx="2041093" cy="146304"/>
          </a:xfrm>
          <a:prstGeom prst="rect">
            <a:avLst/>
          </a:prstGeom>
          <a:solidFill>
            <a:srgbClr val="E8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31949" y="6711696"/>
            <a:ext cx="2041093" cy="14630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3898" y="6711696"/>
            <a:ext cx="2041093" cy="146304"/>
          </a:xfrm>
          <a:prstGeom prst="rect">
            <a:avLst/>
          </a:prstGeom>
          <a:solidFill>
            <a:srgbClr val="FFC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5847" y="6711696"/>
            <a:ext cx="2041093" cy="14630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7796" y="6711696"/>
            <a:ext cx="2041093" cy="146304"/>
          </a:xfrm>
          <a:prstGeom prst="rect">
            <a:avLst/>
          </a:prstGeom>
          <a:solidFill>
            <a:srgbClr val="2F8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59746" y="6711696"/>
            <a:ext cx="2041093" cy="146304"/>
          </a:xfrm>
          <a:prstGeom prst="rect">
            <a:avLst/>
          </a:prstGeom>
          <a:solidFill>
            <a:srgbClr val="9B5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