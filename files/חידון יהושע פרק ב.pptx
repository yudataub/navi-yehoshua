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חידון על יהושע פרק ב׳ בשני חלקים: חידון א׳ על פסוקים א׳–י״ב וחידון ב׳ על פסוקים י״ג–כ״ד. בשקף הבא יש תפריט – לחיצה על כפתור קופצת ישר לחידון הרצוי. בכל שקף יש כפתור ״תפריט״ קטן בפינה השמאלית התחתונה לחזרה לתפריט.</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תפריט: במצב הצגה (Slide Show) לחצי על כרטיס כדי לקפוץ לחידון א׳ (פסוקים א׳–י״ב), לחידון ב׳ (פסוקים י״ג–כ״ד), או לחוקי המשחק. אפשר ללמד חצי פרק, להציג את החידון של אותו חצי, ולחזור לתפריט בכפתור ״תפריט״.</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רעיון לניקוד: חלקי את הכיתה ל־4 קבוצות לפי צבעים ורשמי טבלה על הלוח. בכל שאלה קבוצה אחת עונה בתורה (כ־20 שניות לחשוב יחד). תשובה נכונה = 10 נקודות; אם טעתה – הקבוצה הבאה בתור יכולה לנסות ולקבל 5 נקודות. אפשר גם לתת לכל קבוצה כרטיסי א/ב/ג/ד להרים – וכל קבוצה שצדקה מקבלת נקודות. בסוף כל חידון סופרות ומכריזות על הקבוצה המנצחת.</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חידון א׳ – על פסוקים א׳–י״ב: יהושע שולח שני מרגלים בסתר ליריחו, רחב מחביאה אותם על הגג, מספרת להם שכל יושבי הארץ פוחדים מבני ישראל, ומבקשת אות אמת. הזכירי לבנות את חוקי הניקוד ומי הקבוצה הראשונה.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א׳: ״וַיִּשְׁלַח יְהוֹשֻׁעַ־בִּן־נוּן מִן־הַשִּׁטִּים״. השטים הוא המקום שבו חנו בני ישראל בעבר הירדן המזרחי, לפני שעברו את הירדן. יהושע שלח אותם לראות את הארץ ובמיוחד את העיר יריחו – העיר הראשונה שבדרך. שאלה לכיתה: למה דווקא את יריחו צריך לבדוק קודם?</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א׳: ״מְרַגְּלִים חֶרֶשׁ״ – בסתר, בשקט, בלי שאחרים ידעו. אפשר להשוות: משה רבנו שלח שנים־עשר מרגלים, וכל העם ידע; יהושע שלח רק שניים, ובסוד. שאלה לכיתה: למה כדאי לעשות שליחות כזאת בשקט?</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פסוקים ב׳–ג׳: סיפרו למלך יריחו שבאו אנשים מבני ישראל ״לַחְפֹּר אֶת־הָאָרֶץ״ – לחקור ולבדוק אותה. המלך שלח שליחים אל רחב, בעלת הפונדק שבחומת העיר, ואמר לה להוציא את האנשים. שאלה לכיתה: מה רחב תעשה עכשיו?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פסוקים ד׳–ה׳: ״וַתִּצְפְּנוֹ״ – רחב החביאה את המרגלים, ואמרה לשליחי המלך שהאנשים יצאו בחושך, כשסגרו את שער העיר, ושכדאי להם לרדוף מהר. כך היא הצילה את השליחים של יהושע.</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ו׳: ״וַתִּטְמְנֵם בְּפִשְׁתֵּי הָעֵץ הָעֲרֻכוֹת לָהּ עַל־הַגָּג״. ותטמנם = החביאה אותם. פשתי העץ = גבעולי צמח הפשתן (שממנו עושים חוטים ובד), שהיו מסודרים על הגג לייבוש. מתחתם המרגלים היו מכוסים ואיש לא ראה אותם.</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ז׳: ״וְהָאֲנָשִׁים רָדְפוּ אַחֲרֵיהֶם דֶּרֶךְ הַיַּרְדֵּן עַל הַמַּעְבְּרוֹת״ – המעברות הם המקומות שבהם עוברים את הנהר. ואחרי שהרודפים יצאו, סגרו את שער העיר. אבל המרגלים בכלל היו על הגג!</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פסוקים ח׳–ט׳: לפני שהמרגלים הלכו לישון, רחב עלתה אליהם לגג ואמרה: ״יָדַעְתִּי כִּי־נָתַן ה׳ לָכֶם אֶת־הָאָרֶץ״. גם אנשי כנען ידעו שה׳ הבטיח את הארץ לבני ישראל!</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פסוקים ט׳, י״א: ״נָפְלָה אֵימַתְכֶם עָלֵינוּ״ = נפל עלינו פחד מכם; ״נָמֹגוּ״ ו״וַיִּמַּס לְבָבֵנוּ״ = הלב נמס מפחד, כמו קרח שנמס. אף אחד כבר לא היה אמיץ (״וְלֹא־קָמָה עוֹד רוּחַ בְּאִישׁ״). שאלה לכיתה: למה כולם פחדו? (התשובה בשאלה הבאה!)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י׳: רחב סיפרה שכולם שמעו איך ה׳ ייבש את ים סוף כשבני ישראל יצאו ממצרים, ומה עשו בני ישראל לסיחון ולעוג, מלכי האמורי. ובפסוק י״א היא אומרת: ״כִּי ה׳ אֱלֹקֵיכֶם הוּא אֱלֹקִים בַּשָּׁמַיִם מִמַּעַל וְעַל־הָאָרֶץ מִתָּחַת״. שאלה לכיתה: איזה עוד נס היינו מספרות?</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י״ב: ״הִשָּׁבְעוּ־נָא לִי בַּה׳ כִּי־עָשִׂיתִי עִמָּכֶם חָסֶד״ – רחב עשתה חסד עם המרגלים, וביקשה שגם הם יעשו חסד עם משפחתה. ״אוֹת״ = סימן; ״אוֹת אֱמֶת״ = סימן נאמן שאפשר לסמוך עליו. בחלק הבא נראה מה היה הסימן! (חוט השני)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סיכום חידון א׳: ספרו נקודות והכריזו על הקבוצה המנצחת. כשתלמדו את פסוקים י״ג–כ״ד – לחצי ״לחידון ב׳״ או חזרי לתפריט.</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חידון ב׳ – על פסוקים י״ג–כ״ד: המרגלים מבטיחים לרחב להציל את משפחתה, יורדים בחבל דרך החלון, נותנים לה את תקות חוט השני כסימן, מתחבאים בהר שלושה ימים, וחוזרים ליהושע עם בשורה טובה.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פסוקים י״ג–י״ד: רחב ביקשה ״וְהַחֲיִתֶם אֶת־אָבִי וְאֶת־אִמִּי וְאֶת־אַחַי וְאֶת־אַחְיוֹתַי״. המרגלים ענו: ״נַפְשֵׁנוּ תַחְתֵּיכֶם לָמוּת״ – אנחנו ערבים לחייכם, ״אִם לֹא תַגִּידוּ אֶת־דְּבָרֵנוּ זֶה״ – בתנאי שלא תגלי את הסוד. ״וְעָשִׂינוּ עִמָּךְ חֶסֶד וֶאֱמֶת״.</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ט״ו: ״וַתּוֹרִדֵם בַּחֶבֶל בְּעַד הַחַלּוֹן״. השער של העיר היה סגור, אבל הבית של רחב היה בתוך החומה – כך שהחלון פנה החוצה, אל מחוץ לעיר.</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ט״ו: ״כִּי בֵיתָהּ בְּקִיר הַחוֹמָה וּבַחוֹמָה הִיא יוֹשָׁבֶת״. בזכות זה המרגלים יכלו לצאת מהעיר בלי לעבור בשער הסגור. אפשר לצייר על הלוח חומה עם בית וחלון.</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ט״ז: ״הָהָרָה לֵּכוּ... וְנַחְבֵּתֶם שָׁמָּה שְׁלֹשֶׁת יָמִים״. הרודפים חיפשו בדרך לירדן – ולכן רחב שלחה את המרגלים לכיוון ההפוך, להר. חכם!</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י״ח: ״תִּקְוַת״ – מלשון קַו, כלומר חבל; ״חוּט הַשָּׁנִי״ – חוט בצבע אדום. המרגלים אמרו לרחב לקשור אותו בחלון שממנו הורידה אותם – וכשבני ישראל יבואו, הם יראו את הסימן וידעו לא לפגוע בבית הזה. זה ה״אוֹת אֱמֶת״ שהיא ביקשה!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פסוקים י״ח–י״ט: ״וְאֶת־אָבִיךְ וְאֶת־אִמֵּךְ וְאֶת־אַחַיִךְ... תַּאַסְפִי אֵלַיִךְ הַבָּיְתָה״. מי שיישאר בתוך הבית – המרגלים אחראים לשלומו; מי שיֵצא החוצה – הם לא אחראים. שאלה לכיתה: למה חשוב שכולם יהיו בבית יחד?</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כ״א: רחב הסכימה לתנאים – ״כְּדִבְרֵיכֶם כֶּן־הוּא״, שלחה את המרגלים, וקשרה את חוט השני בחלון, בדיוק כמו שאמרו לה (פסוק י״ח: ״תִּקְשְׁרִי בַּחַלּוֹן״).</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כ״ב: ״וַיֵּשְׁבוּ שָׁם שְׁלֹשֶׁת יָמִים עַד־שָׁבוּ הָרֹדְפִים״. הם עשו בדיוק מה שרחב יעצה להם (פסוק ט״ז), והרודפים חיפשו בכל הדרך ״וְלֹא מָצָאוּ״.</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כ״ג: ״וַיָּבֹאוּ אֶל־יְהוֹשֻׁעַ בִּן־נוּן וַיְסַפְּרוּ־לוֹ אֵת כָּל־הַמֹּצְאוֹת אוֹתָם״ – סיפרו לו את כל מה שקרה להם. שליח טוב חוזר ומדווח למי ששלח אותו.</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כ״ד: ״כִּי־נָתַן ה׳ בְּיָדֵנוּ אֶת־כָּל־הָאָרֶץ וְגַם־נָמֹגוּ כָּל־יֹשְׁבֵי הָאָרֶץ מִפָּנֵינוּ״. שאלה לכיתה: מה ההבדל בין המרגלים של משה, שהפחידו את העם, לבין המרגלים של יהושע, שחזרו עם ביטחון בה׳?</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סיכום: ספרו נקודות והכריזו על הקבוצה המנצחת. אפשר לסיים בשאלה: מה למדנו מהפרק? (כולם שמעו על הניסים שה׳ עשה לבני ישראל ופחדו; רחב עשתה חסד עם המרגלים והם החזירו לה חסד ואמת; חוט השני כסימן להצלה; המרגלים חזרו בשמחה: ״כי נתן ה׳ בידנו את כל הארץ״).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slide" Target="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slide" Target="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slide" Target="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slide" Target="slide26.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slide" Target="slid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slide" Target="slid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slide" Target="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slide" Target="slid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slide" Target="slid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slide" Target="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slide" Target="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slide" Target="sl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slide" Target="slid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slide" Target="slid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slide" Target="slide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slide" Target="slide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slide" Target="slide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slide" Target="slide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slide" Target="slide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slide" Target="slide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slide" Target="slide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slide" Target="slide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slide" Target="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822960" y="731520"/>
            <a:ext cx="914400" cy="91440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607040" y="822960"/>
            <a:ext cx="731520" cy="73152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280160" y="4846320"/>
            <a:ext cx="640080" cy="64008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332720" y="4754880"/>
            <a:ext cx="914400" cy="91440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3108960" y="5669280"/>
            <a:ext cx="411480" cy="41148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8595360" y="5669280"/>
            <a:ext cx="411480" cy="411480"/>
          </a:xfrm>
          <a:prstGeom prst="star5">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822960"/>
            <a:ext cx="9448495" cy="914400"/>
          </a:xfrm>
          <a:prstGeom prst="rect">
            <a:avLst/>
          </a:prstGeom>
          <a:noFill/>
        </p:spPr>
        <p:txBody>
          <a:bodyPr wrap="square" tIns="27432" bIns="27432" anchor="ctr">
            <a:spAutoFit/>
          </a:bodyPr>
          <a:lstStyle/>
          <a:p>
            <a:pPr rtl="1" algn="ctr">
              <a:lnSpc>
                <a:spcPct val="100000"/>
              </a:lnSpc>
              <a:spcAft>
                <a:spcPts val="0"/>
              </a:spcAft>
            </a:pPr>
            <a:r>
              <a:rPr sz="3200" b="1" lang="he-IL" altLang="en-US">
                <a:solidFill>
                  <a:srgbClr val="FFC233"/>
                </a:solidFill>
                <a:latin typeface="Arial"/>
                <a:ea typeface="Arial"/>
                <a:cs typeface="Arial"/>
              </a:rPr>
              <a:t>נָבִיא · כִּתָּה ג׳</a:t>
            </a:r>
          </a:p>
        </p:txBody>
      </p:sp>
      <p:sp>
        <p:nvSpPr>
          <p:cNvPr id="10" name="Rounded Rectangle 9"/>
          <p:cNvSpPr/>
          <p:nvPr/>
        </p:nvSpPr>
        <p:spPr>
          <a:xfrm>
            <a:off x="1828800" y="1783080"/>
            <a:ext cx="8534095" cy="2103120"/>
          </a:xfrm>
          <a:prstGeom prst="roundRect">
            <a:avLst>
              <a:gd name="adj" fmla="val 25000"/>
            </a:avLst>
          </a:prstGeom>
          <a:solidFill>
            <a:srgbClr val="F25C9A"/>
          </a:solidFill>
          <a:ln w="762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1783080"/>
            <a:ext cx="8534095" cy="2103120"/>
          </a:xfrm>
          <a:prstGeom prst="rect">
            <a:avLst/>
          </a:prstGeom>
          <a:noFill/>
        </p:spPr>
        <p:txBody>
          <a:bodyPr wrap="square" tIns="27432" bIns="27432" anchor="ctr">
            <a:spAutoFit/>
          </a:bodyPr>
          <a:lstStyle/>
          <a:p>
            <a:pPr rtl="1" algn="ctr">
              <a:lnSpc>
                <a:spcPct val="100000"/>
              </a:lnSpc>
              <a:spcAft>
                <a:spcPts val="0"/>
              </a:spcAft>
            </a:pPr>
            <a:r>
              <a:rPr sz="8400" b="1" lang="he-IL" altLang="en-US">
                <a:solidFill>
                  <a:srgbClr val="FFFFFF"/>
                </a:solidFill>
                <a:latin typeface="Arial"/>
                <a:ea typeface="Arial"/>
                <a:cs typeface="Arial"/>
              </a:rPr>
              <a:t>חִידוֹן יְהוֹשֻׁעַ</a:t>
            </a:r>
          </a:p>
        </p:txBody>
      </p:sp>
      <p:sp>
        <p:nvSpPr>
          <p:cNvPr id="12" name="TextBox 11"/>
          <p:cNvSpPr txBox="1"/>
          <p:nvPr/>
        </p:nvSpPr>
        <p:spPr>
          <a:xfrm>
            <a:off x="1371600" y="4069080"/>
            <a:ext cx="9448495" cy="9144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פֶּרֶק ב׳</a:t>
            </a:r>
          </a:p>
        </p:txBody>
      </p:sp>
      <p:sp>
        <p:nvSpPr>
          <p:cNvPr id="13" name="TextBox 12"/>
          <p:cNvSpPr txBox="1"/>
          <p:nvPr/>
        </p:nvSpPr>
        <p:spPr>
          <a:xfrm>
            <a:off x="1371600" y="4983480"/>
            <a:ext cx="9448495" cy="731520"/>
          </a:xfrm>
          <a:prstGeom prst="rect">
            <a:avLst/>
          </a:prstGeom>
          <a:noFill/>
        </p:spPr>
        <p:txBody>
          <a:bodyPr wrap="square" tIns="27432" bIns="27432" anchor="ctr">
            <a:spAutoFit/>
          </a:bodyPr>
          <a:lstStyle/>
          <a:p>
            <a:pPr rtl="1" algn="ctr">
              <a:lnSpc>
                <a:spcPct val="100000"/>
              </a:lnSpc>
              <a:spcAft>
                <a:spcPts val="0"/>
              </a:spcAft>
            </a:pPr>
            <a:r>
              <a:rPr sz="3400" b="1" lang="he-IL" altLang="en-US">
                <a:solidFill>
                  <a:srgbClr val="FFC233"/>
                </a:solidFill>
                <a:latin typeface="Arial"/>
                <a:ea typeface="Arial"/>
                <a:cs typeface="Arial"/>
              </a:rPr>
              <a:t>הַמְרַגְּלִים וְרָחָב</a:t>
            </a:r>
          </a:p>
        </p:txBody>
      </p:sp>
      <p:sp>
        <p:nvSpPr>
          <p:cNvPr id="14" name="Rectangle 13"/>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1005840"/>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9184"/>
            <a:ext cx="11277295" cy="1005840"/>
          </a:xfrm>
          <a:prstGeom prst="rect">
            <a:avLst/>
          </a:prstGeom>
          <a:noFill/>
        </p:spPr>
        <p:txBody>
          <a:bodyPr wrap="square" tIns="27432" bIns="27432" anchor="ctr">
            <a:spAutoFit/>
          </a:bodyPr>
          <a:lstStyle/>
          <a:p>
            <a:pPr rtl="1" algn="ctr">
              <a:lnSpc>
                <a:spcPct val="100000"/>
              </a:lnSpc>
              <a:spcAft>
                <a:spcPts val="0"/>
              </a:spcAft>
            </a:pPr>
            <a:r>
              <a:rPr sz="4600" b="1" lang="he-IL" altLang="en-US">
                <a:solidFill>
                  <a:srgbClr val="FFFFFF"/>
                </a:solidFill>
                <a:latin typeface="Arial"/>
                <a:ea typeface="Arial"/>
                <a:cs typeface="Arial"/>
              </a:rPr>
              <a:t>בַּחֲרִי חִידוֹן</a:t>
            </a:r>
          </a:p>
        </p:txBody>
      </p:sp>
      <p:sp>
        <p:nvSpPr>
          <p:cNvPr id="5" name="Rounded Rectangle 4">
            <a:hlinkClick action="ppaction://hlinksldjump" r:id="rId3"/>
          </p:cNvPr>
          <p:cNvSpPr/>
          <p:nvPr/>
        </p:nvSpPr>
        <p:spPr>
          <a:xfrm>
            <a:off x="8031175" y="1828800"/>
            <a:ext cx="3611880" cy="3840480"/>
          </a:xfrm>
          <a:prstGeom prst="roundRect">
            <a:avLst>
              <a:gd name="adj" fmla="val 15000"/>
            </a:avLst>
          </a:prstGeom>
          <a:solidFill>
            <a:srgbClr val="17A2B8"/>
          </a:solidFill>
          <a:ln w="635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8031175" y="2148840"/>
            <a:ext cx="3611880" cy="1463040"/>
          </a:xfrm>
          <a:prstGeom prst="rect">
            <a:avLst/>
          </a:prstGeom>
          <a:noFill/>
        </p:spPr>
        <p:txBody>
          <a:bodyPr wrap="square" tIns="27432" bIns="27432" anchor="ctr">
            <a:spAutoFit/>
          </a:bodyPr>
          <a:lstStyle/>
          <a:p>
            <a:pPr rtl="1" algn="ctr">
              <a:lnSpc>
                <a:spcPct val="100000"/>
              </a:lnSpc>
              <a:spcAft>
                <a:spcPts val="0"/>
              </a:spcAft>
            </a:pPr>
            <a:r>
              <a:rPr sz="3600" b="1" lang="he-IL" altLang="en-US">
                <a:solidFill>
                  <a:srgbClr val="FFFFFF"/>
                </a:solidFill>
                <a:latin typeface="Arial"/>
                <a:ea typeface="Arial"/>
                <a:cs typeface="Arial"/>
              </a:rPr>
              <a:t>אֵיךְ מְשַׂחֲקוֹת?</a:t>
            </a:r>
          </a:p>
        </p:txBody>
      </p:sp>
      <p:sp>
        <p:nvSpPr>
          <p:cNvPr id="7" name="TextBox 6">
            <a:hlinkClick action="ppaction://hlinksldjump" r:id="rId3"/>
          </p:cNvPr>
          <p:cNvSpPr txBox="1"/>
          <p:nvPr/>
        </p:nvSpPr>
        <p:spPr>
          <a:xfrm>
            <a:off x="8031175" y="3611880"/>
            <a:ext cx="3611880" cy="914400"/>
          </a:xfrm>
          <a:prstGeom prst="rect">
            <a:avLst/>
          </a:prstGeom>
          <a:noFill/>
        </p:spPr>
        <p:txBody>
          <a:bodyPr wrap="square" tIns="27432" bIns="27432" anchor="ctr">
            <a:spAutoFit/>
          </a:bodyPr>
          <a:lstStyle/>
          <a:p>
            <a:pPr rtl="1" algn="ctr">
              <a:lnSpc>
                <a:spcPct val="100000"/>
              </a:lnSpc>
              <a:spcAft>
                <a:spcPts val="0"/>
              </a:spcAft>
            </a:pPr>
            <a:r>
              <a:rPr sz="2800" b="1" lang="he-IL" altLang="en-US">
                <a:solidFill>
                  <a:srgbClr val="FFFFFF"/>
                </a:solidFill>
                <a:latin typeface="Arial"/>
                <a:ea typeface="Arial"/>
                <a:cs typeface="Arial"/>
              </a:rPr>
              <a:t>חֻקֵּי הַמִּשְׂחָק וְנִקּוּד</a:t>
            </a:r>
          </a:p>
        </p:txBody>
      </p:sp>
      <p:sp>
        <p:nvSpPr>
          <p:cNvPr id="8" name="Rounded Rectangle 7">
            <a:hlinkClick action="ppaction://hlinksldjump" r:id="rId3"/>
          </p:cNvPr>
          <p:cNvSpPr/>
          <p:nvPr/>
        </p:nvSpPr>
        <p:spPr>
          <a:xfrm>
            <a:off x="8854135" y="4709160"/>
            <a:ext cx="1965960" cy="5943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3"/>
          </p:cNvPr>
          <p:cNvSpPr txBox="1"/>
          <p:nvPr/>
        </p:nvSpPr>
        <p:spPr>
          <a:xfrm>
            <a:off x="8854135" y="4709160"/>
            <a:ext cx="1965960" cy="594360"/>
          </a:xfrm>
          <a:prstGeom prst="rect">
            <a:avLst/>
          </a:prstGeom>
          <a:noFill/>
        </p:spPr>
        <p:txBody>
          <a:bodyPr wrap="square" lIns="18288" rIns="18288" tIns="27432" bIns="27432" anchor="ctr">
            <a:spAutoFit/>
          </a:bodyPr>
          <a:lstStyle/>
          <a:p>
            <a:pPr rtl="1" algn="ctr">
              <a:lnSpc>
                <a:spcPct val="100000"/>
              </a:lnSpc>
              <a:spcAft>
                <a:spcPts val="0"/>
              </a:spcAft>
            </a:pPr>
            <a:r>
              <a:rPr sz="2000" b="1" lang="he-IL" altLang="en-US">
                <a:solidFill>
                  <a:srgbClr val="17A2B8"/>
                </a:solidFill>
                <a:latin typeface="Arial"/>
                <a:ea typeface="Arial"/>
                <a:cs typeface="Arial"/>
              </a:rPr>
              <a:t>לְחִיצָה ◄</a:t>
            </a:r>
          </a:p>
        </p:txBody>
      </p:sp>
      <p:sp>
        <p:nvSpPr>
          <p:cNvPr id="10" name="Rounded Rectangle 9">
            <a:hlinkClick action="ppaction://hlinksldjump" r:id="rId4"/>
          </p:cNvPr>
          <p:cNvSpPr/>
          <p:nvPr/>
        </p:nvSpPr>
        <p:spPr>
          <a:xfrm>
            <a:off x="4263847" y="1828800"/>
            <a:ext cx="3611880" cy="3840480"/>
          </a:xfrm>
          <a:prstGeom prst="roundRect">
            <a:avLst>
              <a:gd name="adj" fmla="val 15000"/>
            </a:avLst>
          </a:prstGeom>
          <a:solidFill>
            <a:srgbClr val="F25C9A"/>
          </a:solidFill>
          <a:ln w="635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4"/>
          </p:cNvPr>
          <p:cNvSpPr txBox="1"/>
          <p:nvPr/>
        </p:nvSpPr>
        <p:spPr>
          <a:xfrm>
            <a:off x="4263847" y="2148840"/>
            <a:ext cx="3611880" cy="1463040"/>
          </a:xfrm>
          <a:prstGeom prst="rect">
            <a:avLst/>
          </a:prstGeom>
          <a:noFill/>
        </p:spPr>
        <p:txBody>
          <a:bodyPr wrap="square" tIns="27432" bIns="27432" anchor="ctr">
            <a:spAutoFit/>
          </a:bodyPr>
          <a:lstStyle/>
          <a:p>
            <a:pPr rtl="1" algn="ctr">
              <a:lnSpc>
                <a:spcPct val="100000"/>
              </a:lnSpc>
              <a:spcAft>
                <a:spcPts val="0"/>
              </a:spcAft>
            </a:pPr>
            <a:r>
              <a:rPr sz="4600" b="1" lang="he-IL" altLang="en-US">
                <a:solidFill>
                  <a:srgbClr val="FFFFFF"/>
                </a:solidFill>
                <a:latin typeface="Arial"/>
                <a:ea typeface="Arial"/>
                <a:cs typeface="Arial"/>
              </a:rPr>
              <a:t>חִידוֹן א׳</a:t>
            </a:r>
          </a:p>
        </p:txBody>
      </p:sp>
      <p:sp>
        <p:nvSpPr>
          <p:cNvPr id="12" name="TextBox 11">
            <a:hlinkClick action="ppaction://hlinksldjump" r:id="rId4"/>
          </p:cNvPr>
          <p:cNvSpPr txBox="1"/>
          <p:nvPr/>
        </p:nvSpPr>
        <p:spPr>
          <a:xfrm>
            <a:off x="4263847" y="3611880"/>
            <a:ext cx="3611880" cy="914400"/>
          </a:xfrm>
          <a:prstGeom prst="rect">
            <a:avLst/>
          </a:prstGeom>
          <a:noFill/>
        </p:spPr>
        <p:txBody>
          <a:bodyPr wrap="square" tIns="27432" bIns="27432" anchor="ctr">
            <a:spAutoFit/>
          </a:bodyPr>
          <a:lstStyle/>
          <a:p>
            <a:pPr rtl="1" algn="ctr">
              <a:lnSpc>
                <a:spcPct val="100000"/>
              </a:lnSpc>
              <a:spcAft>
                <a:spcPts val="0"/>
              </a:spcAft>
            </a:pPr>
            <a:r>
              <a:rPr sz="2800" b="1" lang="he-IL" altLang="en-US">
                <a:solidFill>
                  <a:srgbClr val="FFFFFF"/>
                </a:solidFill>
                <a:latin typeface="Arial"/>
                <a:ea typeface="Arial"/>
                <a:cs typeface="Arial"/>
              </a:rPr>
              <a:t>פְּסוּקִים א׳–י״ב</a:t>
            </a:r>
          </a:p>
        </p:txBody>
      </p:sp>
      <p:sp>
        <p:nvSpPr>
          <p:cNvPr id="13" name="Rounded Rectangle 12">
            <a:hlinkClick action="ppaction://hlinksldjump" r:id="rId4"/>
          </p:cNvPr>
          <p:cNvSpPr/>
          <p:nvPr/>
        </p:nvSpPr>
        <p:spPr>
          <a:xfrm>
            <a:off x="5086807" y="4709160"/>
            <a:ext cx="1965960" cy="5943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4"/>
          </p:cNvPr>
          <p:cNvSpPr txBox="1"/>
          <p:nvPr/>
        </p:nvSpPr>
        <p:spPr>
          <a:xfrm>
            <a:off x="5086807" y="4709160"/>
            <a:ext cx="1965960" cy="594360"/>
          </a:xfrm>
          <a:prstGeom prst="rect">
            <a:avLst/>
          </a:prstGeom>
          <a:noFill/>
        </p:spPr>
        <p:txBody>
          <a:bodyPr wrap="square" lIns="18288" rIns="18288" tIns="27432" bIns="27432" anchor="ctr">
            <a:spAutoFit/>
          </a:bodyPr>
          <a:lstStyle/>
          <a:p>
            <a:pPr rtl="1" algn="ctr">
              <a:lnSpc>
                <a:spcPct val="100000"/>
              </a:lnSpc>
              <a:spcAft>
                <a:spcPts val="0"/>
              </a:spcAft>
            </a:pPr>
            <a:r>
              <a:rPr sz="2000" b="1" lang="he-IL" altLang="en-US">
                <a:solidFill>
                  <a:srgbClr val="F25C9A"/>
                </a:solidFill>
                <a:latin typeface="Arial"/>
                <a:ea typeface="Arial"/>
                <a:cs typeface="Arial"/>
              </a:rPr>
              <a:t>לְחִיצָה ◄</a:t>
            </a:r>
          </a:p>
        </p:txBody>
      </p:sp>
      <p:sp>
        <p:nvSpPr>
          <p:cNvPr id="15" name="Rounded Rectangle 14">
            <a:hlinkClick action="ppaction://hlinksldjump" r:id="rId5"/>
          </p:cNvPr>
          <p:cNvSpPr/>
          <p:nvPr/>
        </p:nvSpPr>
        <p:spPr>
          <a:xfrm>
            <a:off x="496519" y="1828800"/>
            <a:ext cx="3611880" cy="3840480"/>
          </a:xfrm>
          <a:prstGeom prst="roundRect">
            <a:avLst>
              <a:gd name="adj" fmla="val 15000"/>
            </a:avLst>
          </a:prstGeom>
          <a:solidFill>
            <a:srgbClr val="2F80ED"/>
          </a:solidFill>
          <a:ln w="635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5"/>
          </p:cNvPr>
          <p:cNvSpPr txBox="1"/>
          <p:nvPr/>
        </p:nvSpPr>
        <p:spPr>
          <a:xfrm>
            <a:off x="496519" y="2148840"/>
            <a:ext cx="3611880" cy="1463040"/>
          </a:xfrm>
          <a:prstGeom prst="rect">
            <a:avLst/>
          </a:prstGeom>
          <a:noFill/>
        </p:spPr>
        <p:txBody>
          <a:bodyPr wrap="square" tIns="27432" bIns="27432" anchor="ctr">
            <a:spAutoFit/>
          </a:bodyPr>
          <a:lstStyle/>
          <a:p>
            <a:pPr rtl="1" algn="ctr">
              <a:lnSpc>
                <a:spcPct val="100000"/>
              </a:lnSpc>
              <a:spcAft>
                <a:spcPts val="0"/>
              </a:spcAft>
            </a:pPr>
            <a:r>
              <a:rPr sz="4600" b="1" lang="he-IL" altLang="en-US">
                <a:solidFill>
                  <a:srgbClr val="FFFFFF"/>
                </a:solidFill>
                <a:latin typeface="Arial"/>
                <a:ea typeface="Arial"/>
                <a:cs typeface="Arial"/>
              </a:rPr>
              <a:t>חִידוֹן ב׳</a:t>
            </a:r>
          </a:p>
        </p:txBody>
      </p:sp>
      <p:sp>
        <p:nvSpPr>
          <p:cNvPr id="17" name="TextBox 16">
            <a:hlinkClick action="ppaction://hlinksldjump" r:id="rId5"/>
          </p:cNvPr>
          <p:cNvSpPr txBox="1"/>
          <p:nvPr/>
        </p:nvSpPr>
        <p:spPr>
          <a:xfrm>
            <a:off x="496519" y="3611880"/>
            <a:ext cx="3611880" cy="914400"/>
          </a:xfrm>
          <a:prstGeom prst="rect">
            <a:avLst/>
          </a:prstGeom>
          <a:noFill/>
        </p:spPr>
        <p:txBody>
          <a:bodyPr wrap="square" tIns="27432" bIns="27432" anchor="ctr">
            <a:spAutoFit/>
          </a:bodyPr>
          <a:lstStyle/>
          <a:p>
            <a:pPr rtl="1" algn="ctr">
              <a:lnSpc>
                <a:spcPct val="100000"/>
              </a:lnSpc>
              <a:spcAft>
                <a:spcPts val="0"/>
              </a:spcAft>
            </a:pPr>
            <a:r>
              <a:rPr sz="2800" b="1" lang="he-IL" altLang="en-US">
                <a:solidFill>
                  <a:srgbClr val="FFFFFF"/>
                </a:solidFill>
                <a:latin typeface="Arial"/>
                <a:ea typeface="Arial"/>
                <a:cs typeface="Arial"/>
              </a:rPr>
              <a:t>פְּסוּקִים י״ג–כ״ד</a:t>
            </a:r>
          </a:p>
        </p:txBody>
      </p:sp>
      <p:sp>
        <p:nvSpPr>
          <p:cNvPr id="18" name="Rounded Rectangle 17">
            <a:hlinkClick action="ppaction://hlinksldjump" r:id="rId5"/>
          </p:cNvPr>
          <p:cNvSpPr/>
          <p:nvPr/>
        </p:nvSpPr>
        <p:spPr>
          <a:xfrm>
            <a:off x="1319479" y="4709160"/>
            <a:ext cx="1965960" cy="5943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5"/>
          </p:cNvPr>
          <p:cNvSpPr txBox="1"/>
          <p:nvPr/>
        </p:nvSpPr>
        <p:spPr>
          <a:xfrm>
            <a:off x="1319479" y="4709160"/>
            <a:ext cx="1965960" cy="594360"/>
          </a:xfrm>
          <a:prstGeom prst="rect">
            <a:avLst/>
          </a:prstGeom>
          <a:noFill/>
        </p:spPr>
        <p:txBody>
          <a:bodyPr wrap="square" lIns="18288" rIns="18288" tIns="27432" bIns="27432" anchor="ctr">
            <a:spAutoFit/>
          </a:bodyPr>
          <a:lstStyle/>
          <a:p>
            <a:pPr rtl="1" algn="ctr">
              <a:lnSpc>
                <a:spcPct val="100000"/>
              </a:lnSpc>
              <a:spcAft>
                <a:spcPts val="0"/>
              </a:spcAft>
            </a:pPr>
            <a:r>
              <a:rPr sz="2000" b="1" lang="he-IL" altLang="en-US">
                <a:solidFill>
                  <a:srgbClr val="2F80ED"/>
                </a:solidFill>
                <a:latin typeface="Arial"/>
                <a:ea typeface="Arial"/>
                <a:cs typeface="Arial"/>
              </a:rPr>
              <a:t>לְחִיצָה ◄</a:t>
            </a:r>
          </a:p>
        </p:txBody>
      </p:sp>
      <p:sp>
        <p:nvSpPr>
          <p:cNvPr id="20" name="TextBox 19"/>
          <p:cNvSpPr txBox="1"/>
          <p:nvPr/>
        </p:nvSpPr>
        <p:spPr>
          <a:xfrm>
            <a:off x="457200" y="5852160"/>
            <a:ext cx="11277295" cy="502920"/>
          </a:xfrm>
          <a:prstGeom prst="rect">
            <a:avLst/>
          </a:prstGeom>
          <a:noFill/>
        </p:spPr>
        <p:txBody>
          <a:bodyPr wrap="square" tIns="27432" bIns="27432" anchor="ctr">
            <a:spAutoFit/>
          </a:bodyPr>
          <a:lstStyle/>
          <a:p>
            <a:pPr rtl="1" algn="ctr">
              <a:lnSpc>
                <a:spcPct val="100000"/>
              </a:lnSpc>
              <a:spcAft>
                <a:spcPts val="0"/>
              </a:spcAft>
            </a:pPr>
            <a:r>
              <a:rPr sz="1800" b="0" lang="he-IL" altLang="en-US">
                <a:solidFill>
                  <a:srgbClr val="8A8F99"/>
                </a:solidFill>
                <a:latin typeface="Arial"/>
                <a:ea typeface="Arial"/>
                <a:cs typeface="Arial"/>
              </a:rPr>
              <a:t>לוֹחֲצִים עַל הַכַּרְטִיס בְּמַצַּב הַצָּגָה</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100584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9184"/>
            <a:ext cx="11277295" cy="1005840"/>
          </a:xfrm>
          <a:prstGeom prst="rect">
            <a:avLst/>
          </a:prstGeom>
          <a:noFill/>
        </p:spPr>
        <p:txBody>
          <a:bodyPr wrap="square" tIns="27432" bIns="27432" anchor="ctr">
            <a:spAutoFit/>
          </a:bodyPr>
          <a:lstStyle/>
          <a:p>
            <a:pPr rtl="1" algn="ctr">
              <a:lnSpc>
                <a:spcPct val="100000"/>
              </a:lnSpc>
              <a:spcAft>
                <a:spcPts val="0"/>
              </a:spcAft>
            </a:pPr>
            <a:r>
              <a:rPr sz="4600" b="1" lang="he-IL" altLang="en-US">
                <a:solidFill>
                  <a:srgbClr val="FFFFFF"/>
                </a:solidFill>
                <a:latin typeface="Arial"/>
                <a:ea typeface="Arial"/>
                <a:cs typeface="Arial"/>
              </a:rPr>
              <a:t>אֵיךְ מְשַׂחֲקוֹת?</a:t>
            </a:r>
          </a:p>
        </p:txBody>
      </p:sp>
      <p:sp>
        <p:nvSpPr>
          <p:cNvPr id="5" name="Oval 4"/>
          <p:cNvSpPr/>
          <p:nvPr/>
        </p:nvSpPr>
        <p:spPr>
          <a:xfrm>
            <a:off x="10865815" y="1600200"/>
            <a:ext cx="749808" cy="749808"/>
          </a:xfrm>
          <a:prstGeom prst="ellipse">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1600200"/>
            <a:ext cx="749808" cy="749808"/>
          </a:xfrm>
          <a:prstGeom prst="rect">
            <a:avLst/>
          </a:prstGeom>
          <a:noFill/>
        </p:spPr>
        <p:txBody>
          <a:bodyPr wrap="square" lIns="0" rIns="0" tIns="27432" bIns="27432" anchor="ctr">
            <a:spAutoFit/>
          </a:bodyPr>
          <a:lstStyle/>
          <a:p>
            <a:pPr rtl="1" algn="ctr">
              <a:lnSpc>
                <a:spcPct val="100000"/>
              </a:lnSpc>
              <a:spcAft>
                <a:spcPts val="0"/>
              </a:spcAft>
            </a:pPr>
            <a:r>
              <a:rPr sz="3000" b="1" lang="he-IL" altLang="en-US">
                <a:solidFill>
                  <a:srgbClr val="FFFFFF"/>
                </a:solidFill>
                <a:latin typeface="Arial"/>
                <a:ea typeface="Arial"/>
                <a:cs typeface="Arial"/>
              </a:rPr>
              <a:t>1</a:t>
            </a:r>
          </a:p>
        </p:txBody>
      </p:sp>
      <p:sp>
        <p:nvSpPr>
          <p:cNvPr id="7" name="TextBox 6"/>
          <p:cNvSpPr txBox="1"/>
          <p:nvPr/>
        </p:nvSpPr>
        <p:spPr>
          <a:xfrm>
            <a:off x="4480560" y="1554480"/>
            <a:ext cx="6293815" cy="841248"/>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23305E"/>
                </a:solidFill>
                <a:latin typeface="Arial"/>
                <a:ea typeface="Arial"/>
                <a:cs typeface="Arial"/>
              </a:rPr>
              <a:t>מִתְחַלְּקוֹת לְ־4 קְבוּצוֹת</a:t>
            </a:r>
          </a:p>
        </p:txBody>
      </p:sp>
      <p:sp>
        <p:nvSpPr>
          <p:cNvPr id="8" name="Oval 7"/>
          <p:cNvSpPr/>
          <p:nvPr/>
        </p:nvSpPr>
        <p:spPr>
          <a:xfrm>
            <a:off x="10865815" y="2514600"/>
            <a:ext cx="749808" cy="749808"/>
          </a:xfrm>
          <a:prstGeom prst="ellipse">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65815" y="2514600"/>
            <a:ext cx="749808" cy="749808"/>
          </a:xfrm>
          <a:prstGeom prst="rect">
            <a:avLst/>
          </a:prstGeom>
          <a:noFill/>
        </p:spPr>
        <p:txBody>
          <a:bodyPr wrap="square" lIns="0" rIns="0" tIns="27432" bIns="27432" anchor="ctr">
            <a:spAutoFit/>
          </a:bodyPr>
          <a:lstStyle/>
          <a:p>
            <a:pPr rtl="1" algn="ctr">
              <a:lnSpc>
                <a:spcPct val="100000"/>
              </a:lnSpc>
              <a:spcAft>
                <a:spcPts val="0"/>
              </a:spcAft>
            </a:pPr>
            <a:r>
              <a:rPr sz="3000" b="1" lang="he-IL" altLang="en-US">
                <a:solidFill>
                  <a:srgbClr val="FFFFFF"/>
                </a:solidFill>
                <a:latin typeface="Arial"/>
                <a:ea typeface="Arial"/>
                <a:cs typeface="Arial"/>
              </a:rPr>
              <a:t>2</a:t>
            </a:r>
          </a:p>
        </p:txBody>
      </p:sp>
      <p:sp>
        <p:nvSpPr>
          <p:cNvPr id="10" name="TextBox 9"/>
          <p:cNvSpPr txBox="1"/>
          <p:nvPr/>
        </p:nvSpPr>
        <p:spPr>
          <a:xfrm>
            <a:off x="4480560" y="2468880"/>
            <a:ext cx="6293815" cy="841248"/>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23305E"/>
                </a:solidFill>
                <a:latin typeface="Arial"/>
                <a:ea typeface="Arial"/>
                <a:cs typeface="Arial"/>
              </a:rPr>
              <a:t>כָּל קְבוּצָה בְּתוֹרָהּ – חוֹשְׁבוֹת יַחַד וְעוֹנוֹת</a:t>
            </a:r>
          </a:p>
        </p:txBody>
      </p:sp>
      <p:sp>
        <p:nvSpPr>
          <p:cNvPr id="11" name="Oval 10"/>
          <p:cNvSpPr/>
          <p:nvPr/>
        </p:nvSpPr>
        <p:spPr>
          <a:xfrm>
            <a:off x="10865815" y="3429000"/>
            <a:ext cx="749808" cy="749808"/>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65815" y="3429000"/>
            <a:ext cx="749808" cy="749808"/>
          </a:xfrm>
          <a:prstGeom prst="rect">
            <a:avLst/>
          </a:prstGeom>
          <a:noFill/>
        </p:spPr>
        <p:txBody>
          <a:bodyPr wrap="square" lIns="0" rIns="0" tIns="27432" bIns="27432" anchor="ctr">
            <a:spAutoFit/>
          </a:bodyPr>
          <a:lstStyle/>
          <a:p>
            <a:pPr rtl="1" algn="ctr">
              <a:lnSpc>
                <a:spcPct val="100000"/>
              </a:lnSpc>
              <a:spcAft>
                <a:spcPts val="0"/>
              </a:spcAft>
            </a:pPr>
            <a:r>
              <a:rPr sz="3000" b="1" lang="he-IL" altLang="en-US">
                <a:solidFill>
                  <a:srgbClr val="FFFFFF"/>
                </a:solidFill>
                <a:latin typeface="Arial"/>
                <a:ea typeface="Arial"/>
                <a:cs typeface="Arial"/>
              </a:rPr>
              <a:t>3</a:t>
            </a:r>
          </a:p>
        </p:txBody>
      </p:sp>
      <p:sp>
        <p:nvSpPr>
          <p:cNvPr id="13" name="TextBox 12"/>
          <p:cNvSpPr txBox="1"/>
          <p:nvPr/>
        </p:nvSpPr>
        <p:spPr>
          <a:xfrm>
            <a:off x="4480560" y="3383280"/>
            <a:ext cx="6293815" cy="841248"/>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23305E"/>
                </a:solidFill>
                <a:latin typeface="Arial"/>
                <a:ea typeface="Arial"/>
                <a:cs typeface="Arial"/>
              </a:rPr>
              <a:t>תְּשׁוּבָה נְכוֹנָה = 10 נְקוּדוֹת</a:t>
            </a:r>
          </a:p>
        </p:txBody>
      </p:sp>
      <p:sp>
        <p:nvSpPr>
          <p:cNvPr id="14" name="Oval 13"/>
          <p:cNvSpPr/>
          <p:nvPr/>
        </p:nvSpPr>
        <p:spPr>
          <a:xfrm>
            <a:off x="10865815" y="4343400"/>
            <a:ext cx="749808" cy="749808"/>
          </a:xfrm>
          <a:prstGeom prst="ellipse">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65815" y="4343400"/>
            <a:ext cx="749808" cy="749808"/>
          </a:xfrm>
          <a:prstGeom prst="rect">
            <a:avLst/>
          </a:prstGeom>
          <a:noFill/>
        </p:spPr>
        <p:txBody>
          <a:bodyPr wrap="square" lIns="0" rIns="0" tIns="27432" bIns="27432" anchor="ctr">
            <a:spAutoFit/>
          </a:bodyPr>
          <a:lstStyle/>
          <a:p>
            <a:pPr rtl="1" algn="ctr">
              <a:lnSpc>
                <a:spcPct val="100000"/>
              </a:lnSpc>
              <a:spcAft>
                <a:spcPts val="0"/>
              </a:spcAft>
            </a:pPr>
            <a:r>
              <a:rPr sz="3000" b="1" lang="he-IL" altLang="en-US">
                <a:solidFill>
                  <a:srgbClr val="FFFFFF"/>
                </a:solidFill>
                <a:latin typeface="Arial"/>
                <a:ea typeface="Arial"/>
                <a:cs typeface="Arial"/>
              </a:rPr>
              <a:t>4</a:t>
            </a:r>
          </a:p>
        </p:txBody>
      </p:sp>
      <p:sp>
        <p:nvSpPr>
          <p:cNvPr id="16" name="TextBox 15"/>
          <p:cNvSpPr txBox="1"/>
          <p:nvPr/>
        </p:nvSpPr>
        <p:spPr>
          <a:xfrm>
            <a:off x="4480560" y="4297680"/>
            <a:ext cx="6293815" cy="841248"/>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23305E"/>
                </a:solidFill>
                <a:latin typeface="Arial"/>
                <a:ea typeface="Arial"/>
                <a:cs typeface="Arial"/>
              </a:rPr>
              <a:t>טָעֲתָה? הַקְּבוּצָה הַבָּאָה יְכוֹלָה לְנַסּוֹת – 5 נְקוּדוֹת</a:t>
            </a:r>
          </a:p>
        </p:txBody>
      </p:sp>
      <p:sp>
        <p:nvSpPr>
          <p:cNvPr id="17" name="Rounded Rectangle 16"/>
          <p:cNvSpPr/>
          <p:nvPr/>
        </p:nvSpPr>
        <p:spPr>
          <a:xfrm>
            <a:off x="411480" y="1554480"/>
            <a:ext cx="3794760" cy="3657600"/>
          </a:xfrm>
          <a:prstGeom prst="roundRect">
            <a:avLst>
              <a:gd name="adj" fmla="val 10000"/>
            </a:avLst>
          </a:prstGeom>
          <a:solidFill>
            <a:srgbClr val="FFFFFF"/>
          </a:solidFill>
          <a:ln w="38100">
            <a:solidFill>
              <a:srgbClr val="17A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1600200"/>
            <a:ext cx="3794760" cy="54864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17A2B8"/>
                </a:solidFill>
                <a:latin typeface="Arial"/>
                <a:ea typeface="Arial"/>
                <a:cs typeface="Arial"/>
              </a:rPr>
              <a:t>לוּחַ הַנְּקוּדוֹת</a:t>
            </a:r>
          </a:p>
        </p:txBody>
      </p:sp>
      <p:sp>
        <p:nvSpPr>
          <p:cNvPr id="19" name="Rounded Rectangle 18"/>
          <p:cNvSpPr/>
          <p:nvPr/>
        </p:nvSpPr>
        <p:spPr>
          <a:xfrm>
            <a:off x="640080" y="2194560"/>
            <a:ext cx="3337560" cy="594360"/>
          </a:xfrm>
          <a:prstGeom prst="roundRect">
            <a:avLst>
              <a:gd name="adj" fmla="val 40000"/>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63040" y="2194560"/>
            <a:ext cx="2468880" cy="594360"/>
          </a:xfrm>
          <a:prstGeom prst="rect">
            <a:avLst/>
          </a:prstGeom>
          <a:noFill/>
        </p:spPr>
        <p:txBody>
          <a:bodyPr wrap="square" tIns="27432" bIns="27432" anchor="ctr">
            <a:spAutoFit/>
          </a:bodyPr>
          <a:lstStyle/>
          <a:p>
            <a:pPr rtl="1" algn="r">
              <a:lnSpc>
                <a:spcPct val="100000"/>
              </a:lnSpc>
              <a:spcAft>
                <a:spcPts val="0"/>
              </a:spcAft>
            </a:pPr>
            <a:r>
              <a:rPr sz="2000" b="1" lang="he-IL" altLang="en-US">
                <a:solidFill>
                  <a:srgbClr val="FFFFFF"/>
                </a:solidFill>
                <a:latin typeface="Arial"/>
                <a:ea typeface="Arial"/>
                <a:cs typeface="Arial"/>
              </a:rPr>
              <a:t>קְבוּצָה אֲדֻמָּה</a:t>
            </a:r>
          </a:p>
        </p:txBody>
      </p:sp>
      <p:sp>
        <p:nvSpPr>
          <p:cNvPr id="21" name="Rounded Rectangle 20"/>
          <p:cNvSpPr/>
          <p:nvPr/>
        </p:nvSpPr>
        <p:spPr>
          <a:xfrm>
            <a:off x="749808" y="2267712"/>
            <a:ext cx="731520" cy="448056"/>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2926080"/>
            <a:ext cx="3337560" cy="594360"/>
          </a:xfrm>
          <a:prstGeom prst="roundRect">
            <a:avLst>
              <a:gd name="adj" fmla="val 40000"/>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2926080"/>
            <a:ext cx="2468880" cy="594360"/>
          </a:xfrm>
          <a:prstGeom prst="rect">
            <a:avLst/>
          </a:prstGeom>
          <a:noFill/>
        </p:spPr>
        <p:txBody>
          <a:bodyPr wrap="square" tIns="27432" bIns="27432" anchor="ctr">
            <a:spAutoFit/>
          </a:bodyPr>
          <a:lstStyle/>
          <a:p>
            <a:pPr rtl="1" algn="r">
              <a:lnSpc>
                <a:spcPct val="100000"/>
              </a:lnSpc>
              <a:spcAft>
                <a:spcPts val="0"/>
              </a:spcAft>
            </a:pPr>
            <a:r>
              <a:rPr sz="2000" b="1" lang="he-IL" altLang="en-US">
                <a:solidFill>
                  <a:srgbClr val="FFFFFF"/>
                </a:solidFill>
                <a:latin typeface="Arial"/>
                <a:ea typeface="Arial"/>
                <a:cs typeface="Arial"/>
              </a:rPr>
              <a:t>קְבוּצָה כְּחֻלָּה</a:t>
            </a:r>
          </a:p>
        </p:txBody>
      </p:sp>
      <p:sp>
        <p:nvSpPr>
          <p:cNvPr id="24" name="Rounded Rectangle 23"/>
          <p:cNvSpPr/>
          <p:nvPr/>
        </p:nvSpPr>
        <p:spPr>
          <a:xfrm>
            <a:off x="749808" y="2999232"/>
            <a:ext cx="731520" cy="448056"/>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 y="3657600"/>
            <a:ext cx="3337560" cy="594360"/>
          </a:xfrm>
          <a:prstGeom prst="roundRect">
            <a:avLst>
              <a:gd name="adj" fmla="val 4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63040" y="3657600"/>
            <a:ext cx="2468880" cy="594360"/>
          </a:xfrm>
          <a:prstGeom prst="rect">
            <a:avLst/>
          </a:prstGeom>
          <a:noFill/>
        </p:spPr>
        <p:txBody>
          <a:bodyPr wrap="square" tIns="27432" bIns="27432" anchor="ctr">
            <a:spAutoFit/>
          </a:bodyPr>
          <a:lstStyle/>
          <a:p>
            <a:pPr rtl="1" algn="r">
              <a:lnSpc>
                <a:spcPct val="100000"/>
              </a:lnSpc>
              <a:spcAft>
                <a:spcPts val="0"/>
              </a:spcAft>
            </a:pPr>
            <a:r>
              <a:rPr sz="2000" b="1" lang="he-IL" altLang="en-US">
                <a:solidFill>
                  <a:srgbClr val="FFFFFF"/>
                </a:solidFill>
                <a:latin typeface="Arial"/>
                <a:ea typeface="Arial"/>
                <a:cs typeface="Arial"/>
              </a:rPr>
              <a:t>קְבוּצָה כְּתֻמָּה</a:t>
            </a:r>
          </a:p>
        </p:txBody>
      </p:sp>
      <p:sp>
        <p:nvSpPr>
          <p:cNvPr id="27" name="Rounded Rectangle 26"/>
          <p:cNvSpPr/>
          <p:nvPr/>
        </p:nvSpPr>
        <p:spPr>
          <a:xfrm>
            <a:off x="749808" y="3730752"/>
            <a:ext cx="731520" cy="448056"/>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 y="4389120"/>
            <a:ext cx="3337560" cy="594360"/>
          </a:xfrm>
          <a:prstGeom prst="roundRect">
            <a:avLst>
              <a:gd name="adj" fmla="val 40000"/>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63040" y="4389120"/>
            <a:ext cx="2468880" cy="594360"/>
          </a:xfrm>
          <a:prstGeom prst="rect">
            <a:avLst/>
          </a:prstGeom>
          <a:noFill/>
        </p:spPr>
        <p:txBody>
          <a:bodyPr wrap="square" tIns="27432" bIns="27432" anchor="ctr">
            <a:spAutoFit/>
          </a:bodyPr>
          <a:lstStyle/>
          <a:p>
            <a:pPr rtl="1" algn="r">
              <a:lnSpc>
                <a:spcPct val="100000"/>
              </a:lnSpc>
              <a:spcAft>
                <a:spcPts val="0"/>
              </a:spcAft>
            </a:pPr>
            <a:r>
              <a:rPr sz="2000" b="1" lang="he-IL" altLang="en-US">
                <a:solidFill>
                  <a:srgbClr val="FFFFFF"/>
                </a:solidFill>
                <a:latin typeface="Arial"/>
                <a:ea typeface="Arial"/>
                <a:cs typeface="Arial"/>
              </a:rPr>
              <a:t>קְבוּצָה סְגֻלָּה</a:t>
            </a:r>
          </a:p>
        </p:txBody>
      </p:sp>
      <p:sp>
        <p:nvSpPr>
          <p:cNvPr id="30" name="Rounded Rectangle 29"/>
          <p:cNvSpPr/>
          <p:nvPr/>
        </p:nvSpPr>
        <p:spPr>
          <a:xfrm>
            <a:off x="749808" y="4462272"/>
            <a:ext cx="731520" cy="448056"/>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11480" y="5440680"/>
            <a:ext cx="11368735" cy="640080"/>
          </a:xfrm>
          <a:prstGeom prst="roundRect">
            <a:avLst>
              <a:gd name="adj" fmla="val 40000"/>
            </a:avLst>
          </a:prstGeom>
          <a:solidFill>
            <a:srgbClr val="FFF1C7"/>
          </a:solidFill>
          <a:ln w="254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5440680"/>
            <a:ext cx="11368735" cy="640080"/>
          </a:xfrm>
          <a:prstGeom prst="rect">
            <a:avLst/>
          </a:prstGeom>
          <a:noFill/>
        </p:spPr>
        <p:txBody>
          <a:bodyPr wrap="square" tIns="27432" bIns="27432" anchor="ctr">
            <a:spAutoFit/>
          </a:bodyPr>
          <a:lstStyle/>
          <a:p>
            <a:pPr rtl="1" algn="ctr">
              <a:lnSpc>
                <a:spcPct val="100000"/>
              </a:lnSpc>
              <a:spcAft>
                <a:spcPts val="0"/>
              </a:spcAft>
            </a:pPr>
            <a:r>
              <a:rPr sz="2600" b="1" lang="he-IL" altLang="en-US">
                <a:solidFill>
                  <a:srgbClr val="23305E"/>
                </a:solidFill>
                <a:latin typeface="Arial"/>
                <a:ea typeface="Arial"/>
                <a:cs typeface="Arial"/>
              </a:rPr>
              <a:t>הַקְּבוּצָה עִם הֲכִי הַרְבֵּה נְקוּדוֹת – מְנַצַּחַת!</a:t>
            </a:r>
          </a:p>
        </p:txBody>
      </p:sp>
      <p:sp>
        <p:nvSpPr>
          <p:cNvPr id="33" name="Rounded Rectangle 3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5" name="Rectangle 3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914400" y="914400"/>
            <a:ext cx="822960" cy="82296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424160" y="1188720"/>
            <a:ext cx="640080" cy="64008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645920" y="5120640"/>
            <a:ext cx="548640" cy="54864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058400" y="4937760"/>
            <a:ext cx="914400" cy="91440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760720" y="5760720"/>
            <a:ext cx="411480" cy="41148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194560" y="1463040"/>
            <a:ext cx="7802575" cy="2194560"/>
          </a:xfrm>
          <a:prstGeom prst="roundRect">
            <a:avLst>
              <a:gd name="adj" fmla="val 25000"/>
            </a:avLst>
          </a:prstGeom>
          <a:solidFill>
            <a:srgbClr val="F25C9A"/>
          </a:solidFill>
          <a:ln w="762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1463040"/>
            <a:ext cx="7802575" cy="2194560"/>
          </a:xfrm>
          <a:prstGeom prst="rect">
            <a:avLst/>
          </a:prstGeom>
          <a:noFill/>
        </p:spPr>
        <p:txBody>
          <a:bodyPr wrap="square" tIns="27432" bIns="27432" anchor="ctr">
            <a:spAutoFit/>
          </a:bodyPr>
          <a:lstStyle/>
          <a:p>
            <a:pPr rtl="1" algn="ctr">
              <a:lnSpc>
                <a:spcPct val="100000"/>
              </a:lnSpc>
              <a:spcAft>
                <a:spcPts val="0"/>
              </a:spcAft>
            </a:pPr>
            <a:r>
              <a:rPr sz="8000" b="1" lang="he-IL" altLang="en-US">
                <a:solidFill>
                  <a:srgbClr val="FFFFFF"/>
                </a:solidFill>
                <a:latin typeface="Arial"/>
                <a:ea typeface="Arial"/>
                <a:cs typeface="Arial"/>
              </a:rPr>
              <a:t>חִידוֹן א׳</a:t>
            </a:r>
          </a:p>
        </p:txBody>
      </p:sp>
      <p:sp>
        <p:nvSpPr>
          <p:cNvPr id="10" name="TextBox 9"/>
          <p:cNvSpPr txBox="1"/>
          <p:nvPr/>
        </p:nvSpPr>
        <p:spPr>
          <a:xfrm>
            <a:off x="1371600" y="3886200"/>
            <a:ext cx="9448495" cy="822960"/>
          </a:xfrm>
          <a:prstGeom prst="rect">
            <a:avLst/>
          </a:prstGeom>
          <a:noFill/>
        </p:spPr>
        <p:txBody>
          <a:bodyPr wrap="square" tIns="27432" bIns="27432" anchor="ctr">
            <a:spAutoFit/>
          </a:bodyPr>
          <a:lstStyle/>
          <a:p>
            <a:pPr rtl="1" algn="ctr">
              <a:lnSpc>
                <a:spcPct val="100000"/>
              </a:lnSpc>
              <a:spcAft>
                <a:spcPts val="0"/>
              </a:spcAft>
            </a:pPr>
            <a:r>
              <a:rPr sz="3400" b="1" lang="he-IL" altLang="en-US">
                <a:solidFill>
                  <a:srgbClr val="FFC233"/>
                </a:solidFill>
                <a:latin typeface="Arial"/>
                <a:ea typeface="Arial"/>
                <a:cs typeface="Arial"/>
              </a:rPr>
              <a:t>יְהוֹשֻׁעַ פֶּרֶק ב׳ · פְּסוּקִים א׳–י״ב</a:t>
            </a:r>
          </a:p>
        </p:txBody>
      </p:sp>
      <p:sp>
        <p:nvSpPr>
          <p:cNvPr id="11" name="TextBox 10"/>
          <p:cNvSpPr txBox="1"/>
          <p:nvPr/>
        </p:nvSpPr>
        <p:spPr>
          <a:xfrm>
            <a:off x="1371600" y="4663440"/>
            <a:ext cx="9448495" cy="731520"/>
          </a:xfrm>
          <a:prstGeom prst="rect">
            <a:avLst/>
          </a:prstGeom>
          <a:noFill/>
        </p:spPr>
        <p:txBody>
          <a:bodyPr wrap="square" tIns="27432" bIns="27432" anchor="ctr">
            <a:spAutoFit/>
          </a:bodyPr>
          <a:lstStyle/>
          <a:p>
            <a:pPr rtl="1" algn="ctr">
              <a:lnSpc>
                <a:spcPct val="100000"/>
              </a:lnSpc>
              <a:spcAft>
                <a:spcPts val="0"/>
              </a:spcAft>
            </a:pPr>
            <a:r>
              <a:rPr sz="2600" b="0" lang="he-IL" altLang="en-US">
                <a:solidFill>
                  <a:srgbClr val="FFFFFF"/>
                </a:solidFill>
                <a:latin typeface="Arial"/>
                <a:ea typeface="Arial"/>
                <a:cs typeface="Arial"/>
              </a:rPr>
              <a:t>10 שְׁאֵלוֹת · כָּל תְּשׁוּבָה נְכוֹנָה = 10 נְקוּדוֹת</a:t>
            </a:r>
          </a:p>
        </p:txBody>
      </p:sp>
      <p:sp>
        <p:nvSpPr>
          <p:cNvPr id="12" name="Rounded Rectangle 11">
            <a:hlinkClick action="ppaction://hlinksldjump" r:id="rId3"/>
          </p:cNvPr>
          <p:cNvSpPr/>
          <p:nvPr/>
        </p:nvSpPr>
        <p:spPr>
          <a:xfrm>
            <a:off x="228600" y="6236208"/>
            <a:ext cx="1234440" cy="420624"/>
          </a:xfrm>
          <a:prstGeom prst="roundRect">
            <a:avLst>
              <a:gd name="adj" fmla="val 50000"/>
            </a:avLst>
          </a:prstGeom>
          <a:solidFill>
            <a:srgbClr val="2E1A5E"/>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FFFFFF"/>
                </a:solidFill>
                <a:latin typeface="Arial"/>
                <a:ea typeface="Arial"/>
                <a:cs typeface="Arial"/>
              </a:rPr>
              <a:t>⌂ תַּפְרִיט</a:t>
            </a:r>
          </a:p>
        </p:txBody>
      </p:sp>
      <p:sp>
        <p:nvSpPr>
          <p:cNvPr id="14" name="Rectangle 13"/>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1</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מֵאֵיזֶה מָקוֹם שָׁלַח יְהוֹשֻׁעַ אֶת הַמְרַגְּלִים?</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מִן הַגִּלְגָּל</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מִן הַשִּׁטִּים</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מִירוּשָׁלַיִם</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מִמִּצְרַיִם</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1</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מֵאֵיזֶה מָקוֹם שָׁלַח יְהוֹשֻׁעַ אֶת הַמְרַגְּלִים?</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מִן הַגִּלְגָּל</a:t>
            </a:r>
          </a:p>
        </p:txBody>
      </p:sp>
      <p:sp>
        <p:nvSpPr>
          <p:cNvPr id="15" name="Rounded Rectangle 14"/>
          <p:cNvSpPr/>
          <p:nvPr/>
        </p:nvSpPr>
        <p:spPr>
          <a:xfrm>
            <a:off x="457200"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מִן הַשִּׁטִּים</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מִירוּשָׁלַיִם</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מִמִּצְרַיִם</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א׳</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וַיִּשְׁלַח יְהוֹשֻׁעַ־בִּן־נוּן מִן־הַשִּׁטִּים שְׁנַיִם־אֲנָשִׁים מְרַגְּלִים חֶרֶשׁ לֵאמֹר לְכוּ רְאוּ אֶת־הָאָרֶץ וְאֶת־יְרִיחוֹ</a:t>
            </a:r>
          </a:p>
          <a:p>
            <a:pPr rtl="1" algn="r">
              <a:lnSpc>
                <a:spcPct val="100000"/>
              </a:lnSpc>
              <a:spcAft>
                <a:spcPts val="0"/>
              </a:spcAft>
            </a:pPr>
            <a:r>
              <a:rPr sz="2200" b="0" lang="he-IL" altLang="en-US">
                <a:solidFill>
                  <a:srgbClr val="2B2B3A"/>
                </a:solidFill>
                <a:latin typeface="Arial"/>
                <a:ea typeface="Arial"/>
                <a:cs typeface="Arial"/>
              </a:rPr>
              <a:t>בְּנֵי יִשְׂרָאֵל חָנוּ בַּשִּׁטִּים, בְּעֵבֶר הַיַּרְדֵּן – וּמִשָּׁם יָצְאוּ הַמְרַגְּלִים.</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2</a:t>
            </a:r>
          </a:p>
        </p:txBody>
      </p:sp>
      <p:sp>
        <p:nvSpPr>
          <p:cNvPr id="5" name="Rounded Rectangle 4"/>
          <p:cNvSpPr/>
          <p:nvPr/>
        </p:nvSpPr>
        <p:spPr>
          <a:xfrm>
            <a:off x="320040" y="429768"/>
            <a:ext cx="4088465" cy="585216"/>
          </a:xfrm>
          <a:prstGeom prst="roundRect">
            <a:avLst>
              <a:gd name="adj" fmla="val 50000"/>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פֵּרוּשׁ מִלִּים</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״שְׁנַיִם־אֲנָשִׁים מְרַגְּלִים חֶרֶשׁ״ –
מָה הַפֵּרוּשׁ שֶׁל ״חֶרֶשׁ״?</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ברעש גדול</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בסוד, בלי שאחרים ידעו</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עם כל העם</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בבוקר מוקדם</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2</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״שְׁנַיִם־אֲנָשִׁים מְרַגְּלִים חֶרֶשׁ״ –
מָה הַפֵּרוּשׁ שֶׁל ״חֶרֶשׁ״?</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ברעש גדול</a:t>
            </a:r>
          </a:p>
        </p:txBody>
      </p:sp>
      <p:sp>
        <p:nvSpPr>
          <p:cNvPr id="15" name="Rounded Rectangle 14"/>
          <p:cNvSpPr/>
          <p:nvPr/>
        </p:nvSpPr>
        <p:spPr>
          <a:xfrm>
            <a:off x="457200"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בסוד, בלי שאחרים ידעו</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עם כל העם</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בבוקר מוקדם</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א׳</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וַיִּשְׁלַח יְהוֹשֻׁעַ־בִּן־נוּן מִן־הַשִּׁטִּים שְׁנַיִם־אֲנָשִׁים מְרַגְּלִים חֶרֶשׁ לֵאמֹר לְכוּ רְאוּ אֶת־הָאָרֶץ וְאֶת־יְרִיחוֹ</a:t>
            </a:r>
          </a:p>
          <a:p>
            <a:pPr rtl="1" algn="r">
              <a:lnSpc>
                <a:spcPct val="100000"/>
              </a:lnSpc>
              <a:spcAft>
                <a:spcPts val="0"/>
              </a:spcAft>
            </a:pPr>
            <a:r>
              <a:rPr sz="2200" b="0" lang="he-IL" altLang="en-US">
                <a:solidFill>
                  <a:srgbClr val="2B2B3A"/>
                </a:solidFill>
                <a:latin typeface="Arial"/>
                <a:ea typeface="Arial"/>
                <a:cs typeface="Arial"/>
              </a:rPr>
              <a:t>״חֶרֶשׁ״ = בַּסֵּתֶר, בְּשֶׁקֶט. יְהוֹשֻׁעַ שָׁלַח אֶת הַמְרַגְּלִים בְּסוֹד.</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3</a:t>
            </a:r>
          </a:p>
        </p:txBody>
      </p:sp>
      <p:sp>
        <p:nvSpPr>
          <p:cNvPr id="5" name="Rounded Rectangle 4"/>
          <p:cNvSpPr/>
          <p:nvPr/>
        </p:nvSpPr>
        <p:spPr>
          <a:xfrm>
            <a:off x="320040" y="429768"/>
            <a:ext cx="4088465" cy="585216"/>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מִי אָמַר לְמִי?</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״הוֹצִיאִי הָאֲנָשִׁים הַבָּאִים אֵלַיִךְ״
מִי אָמַר לְמִי?</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רחב למרגלים</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יהושע למרגלים</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מלך יריחו לרחב</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המרגלים לרחב</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3</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״הוֹצִיאִי הָאֲנָשִׁים הַבָּאִים אֵלַיִךְ״
מִי אָמַר לְמִי?</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רחב למרגלים</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יהושע למרגלים</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מלך יריחו לרחב</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המרגלים לרחב</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ג׳</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וַיִּשְׁלַח מֶלֶךְ יְרִיחוֹ אֶל־רָחָב לֵאמֹר הוֹצִיאִי הָאֲנָשִׁים הַבָּאִים אֵלַיִךְ אֲשֶׁר־בָּאוּ לְבֵיתֵךְ</a:t>
            </a:r>
          </a:p>
          <a:p>
            <a:pPr rtl="1" algn="r">
              <a:lnSpc>
                <a:spcPct val="100000"/>
              </a:lnSpc>
              <a:spcAft>
                <a:spcPts val="0"/>
              </a:spcAft>
            </a:pPr>
            <a:r>
              <a:rPr sz="2200" b="0" lang="he-IL" altLang="en-US">
                <a:solidFill>
                  <a:srgbClr val="2B2B3A"/>
                </a:solidFill>
                <a:latin typeface="Arial"/>
                <a:ea typeface="Arial"/>
                <a:cs typeface="Arial"/>
              </a:rPr>
              <a:t>מֶלֶךְ יְרִיחוֹ שָׁמַע שֶׁבָּאוּ אֲנָשִׁים מִבְּנֵי יִשְׂרָאֵל, וְשָׁלַח לְבַקֵּשׁ מֵרָחָב לְהוֹצִיא אוֹתָם.</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4</a:t>
            </a:r>
          </a:p>
        </p:txBody>
      </p:sp>
      <p:sp>
        <p:nvSpPr>
          <p:cNvPr id="5" name="Rounded Rectangle 4"/>
          <p:cNvSpPr/>
          <p:nvPr/>
        </p:nvSpPr>
        <p:spPr>
          <a:xfrm>
            <a:off x="320040" y="429768"/>
            <a:ext cx="5313029" cy="585216"/>
          </a:xfrm>
          <a:prstGeom prst="roundRect">
            <a:avLst>
              <a:gd name="adj" fmla="val 50000"/>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313029"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נָכוֹן אוֹ לֹא נָכוֹן?</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רָחָב אָמְרָה לַשְּׁלִיחִים שֶׁל הַמֶּלֶךְ:
הָאֲנָשִׁים יָצְאוּ מֵהָעִיר בַּחֹשֶׁךְ, כְּשֶׁסָּגְרוּ אֶת הַשַּׁעַר.</a:t>
            </a:r>
          </a:p>
        </p:txBody>
      </p:sp>
      <p:sp>
        <p:nvSpPr>
          <p:cNvPr id="9" name="Rounded Rectangle 8"/>
          <p:cNvSpPr/>
          <p:nvPr/>
        </p:nvSpPr>
        <p:spPr>
          <a:xfrm>
            <a:off x="6263640" y="3337560"/>
            <a:ext cx="5394960" cy="2514600"/>
          </a:xfrm>
          <a:prstGeom prst="roundRect">
            <a:avLst>
              <a:gd name="adj" fmla="val 20000"/>
            </a:avLst>
          </a:prstGeom>
          <a:solidFill>
            <a:srgbClr val="2F80ED"/>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נָכוֹן</a:t>
            </a:r>
          </a:p>
        </p:txBody>
      </p:sp>
      <p:sp>
        <p:nvSpPr>
          <p:cNvPr id="11" name="Rounded Rectangle 10"/>
          <p:cNvSpPr/>
          <p:nvPr/>
        </p:nvSpPr>
        <p:spPr>
          <a:xfrm>
            <a:off x="548640" y="3337560"/>
            <a:ext cx="5394960" cy="2514600"/>
          </a:xfrm>
          <a:prstGeom prst="roundRect">
            <a:avLst>
              <a:gd name="adj" fmla="val 20000"/>
            </a:avLst>
          </a:prstGeom>
          <a:solidFill>
            <a:srgbClr val="F2994A"/>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לֹא נָכוֹן</a:t>
            </a:r>
          </a:p>
        </p:txBody>
      </p:sp>
      <p:sp>
        <p:nvSpPr>
          <p:cNvPr id="13" name="Rounded Rectangle 1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15" name="Rectangle 1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4</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רָחָב אָמְרָה לַשְּׁלִיחִים שֶׁל הַמֶּלֶךְ:
הָאֲנָשִׁים יָצְאוּ מֵהָעִיר בַּחֹשֶׁךְ, כְּשֶׁסָּגְרוּ אֶת הַשַּׁעַר.</a:t>
            </a:r>
          </a:p>
        </p:txBody>
      </p:sp>
      <p:sp>
        <p:nvSpPr>
          <p:cNvPr id="11" name="Rounded Rectangle 10"/>
          <p:cNvSpPr/>
          <p:nvPr/>
        </p:nvSpPr>
        <p:spPr>
          <a:xfrm>
            <a:off x="6263640" y="2514600"/>
            <a:ext cx="5394960" cy="1463040"/>
          </a:xfrm>
          <a:prstGeom prst="roundRect">
            <a:avLst>
              <a:gd name="adj" fmla="val 20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FFFFFF"/>
                </a:solidFill>
                <a:latin typeface="Arial"/>
                <a:ea typeface="Arial"/>
                <a:cs typeface="Arial"/>
              </a:rPr>
              <a:t>✓  נָכוֹן</a:t>
            </a:r>
          </a:p>
        </p:txBody>
      </p:sp>
      <p:sp>
        <p:nvSpPr>
          <p:cNvPr id="13" name="Rounded Rectangle 12"/>
          <p:cNvSpPr/>
          <p:nvPr/>
        </p:nvSpPr>
        <p:spPr>
          <a:xfrm>
            <a:off x="548640" y="2514600"/>
            <a:ext cx="5394960" cy="1463040"/>
          </a:xfrm>
          <a:prstGeom prst="roundRect">
            <a:avLst>
              <a:gd name="adj" fmla="val 20000"/>
            </a:avLst>
          </a:prstGeom>
          <a:solidFill>
            <a:srgbClr val="D9DCE1"/>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8A8F99"/>
                </a:solidFill>
                <a:latin typeface="Arial"/>
                <a:ea typeface="Arial"/>
                <a:cs typeface="Arial"/>
              </a:rPr>
              <a:t>לֹא נָכוֹן</a:t>
            </a:r>
          </a:p>
        </p:txBody>
      </p:sp>
      <p:sp>
        <p:nvSpPr>
          <p:cNvPr id="15" name="Rounded Rectangle 14"/>
          <p:cNvSpPr/>
          <p:nvPr/>
        </p:nvSpPr>
        <p:spPr>
          <a:xfrm>
            <a:off x="457200" y="4160520"/>
            <a:ext cx="11277295" cy="2011680"/>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42655" y="3941063"/>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2655" y="3941063"/>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פְּסוּקִים ד׳–ה׳</a:t>
            </a:r>
          </a:p>
        </p:txBody>
      </p:sp>
      <p:sp>
        <p:nvSpPr>
          <p:cNvPr id="18" name="TextBox 17"/>
          <p:cNvSpPr txBox="1"/>
          <p:nvPr/>
        </p:nvSpPr>
        <p:spPr>
          <a:xfrm>
            <a:off x="685800" y="4361688"/>
            <a:ext cx="10820095" cy="1755648"/>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ד׳: וַתִּקַּח הָאִשָּׁה אֶת־שְׁנֵי הָאֲנָשִׁים וַתִּצְפְּנוֹ</a:t>
            </a:r>
          </a:p>
          <a:p>
            <a:pPr rtl="1" algn="r">
              <a:lnSpc>
                <a:spcPct val="100000"/>
              </a:lnSpc>
              <a:spcAft>
                <a:spcPts val="400"/>
              </a:spcAft>
            </a:pPr>
            <a:r>
              <a:rPr sz="2600" b="1" lang="he-IL" altLang="en-US">
                <a:solidFill>
                  <a:srgbClr val="23305E"/>
                </a:solidFill>
                <a:latin typeface="Arial"/>
                <a:ea typeface="Arial"/>
                <a:cs typeface="Arial"/>
              </a:rPr>
              <a:t>ה׳: וַיְהִי הַשַּׁעַר לִסְגּוֹר בַּחֹשֶׁךְ וְהָאֲנָשִׁים יָצָאוּ</a:t>
            </a:r>
          </a:p>
          <a:p>
            <a:pPr rtl="1" algn="r">
              <a:lnSpc>
                <a:spcPct val="100000"/>
              </a:lnSpc>
              <a:spcAft>
                <a:spcPts val="0"/>
              </a:spcAft>
            </a:pPr>
            <a:r>
              <a:rPr sz="2200" b="0" lang="he-IL" altLang="en-US">
                <a:solidFill>
                  <a:srgbClr val="2B2B3A"/>
                </a:solidFill>
                <a:latin typeface="Arial"/>
                <a:ea typeface="Arial"/>
                <a:cs typeface="Arial"/>
              </a:rPr>
              <a:t>רָחָב הֶחְבִּיאָה אֶת הַמְרַגְּלִים, וְאָמְרָה לַשְּׁלִיחִים: הֵם כְּבָר יָצְאוּ – רִדְפוּ אַחֲרֵיהֶם מַהֵר!</a:t>
            </a:r>
          </a:p>
        </p:txBody>
      </p:sp>
      <p:sp>
        <p:nvSpPr>
          <p:cNvPr id="19" name="Rounded Rectangle 18">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5</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אֵיפֹה הֶחְבִּיאָה רָחָב אֶת הַמְרַגְּלִים?</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במרתף של הבית</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בתוך באר</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בפשתי העץ על הגג</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בארון גדול</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5</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אֵיפֹה הֶחְבִּיאָה רָחָב אֶת הַמְרַגְּלִים?</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במרתף של הבית</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בתוך באר</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בפשתי העץ על הגג</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בארון גדול</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ו׳</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וְהִיא הֶעֱלָתַם הַגָּגָה וַתִּטְמְנֵם בְּפִשְׁתֵּי הָעֵץ הָעֲרֻכוֹת לָהּ עַל־הַגָּג׃</a:t>
            </a:r>
          </a:p>
          <a:p>
            <a:pPr rtl="1" algn="r">
              <a:lnSpc>
                <a:spcPct val="100000"/>
              </a:lnSpc>
              <a:spcAft>
                <a:spcPts val="0"/>
              </a:spcAft>
            </a:pPr>
            <a:r>
              <a:rPr sz="2200" b="0" lang="he-IL" altLang="en-US">
                <a:solidFill>
                  <a:srgbClr val="2B2B3A"/>
                </a:solidFill>
                <a:latin typeface="Arial"/>
                <a:ea typeface="Arial"/>
                <a:cs typeface="Arial"/>
              </a:rPr>
              <a:t>רָחָב הֶעֱלְתָה אוֹתָם לַגַּג, וְכִסְּתָה אוֹתָם בַּפִּשְׁתָּן שֶׁהָיָה מְסֻדָּר שָׁם.</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6</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לְאָן רָדְפוּ הָאֲנָשִׁים שֶׁל הַמֶּלֶךְ
אַחֲרֵי הַמְרַגְּלִים?</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דרך הירדן</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למדבר סיני</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אל הים הגדול</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לעיר מצרים</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6</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לְאָן רָדְפוּ הָאֲנָשִׁים שֶׁל הַמֶּלֶךְ
אַחֲרֵי הַמְרַגְּלִים?</a:t>
            </a:r>
          </a:p>
        </p:txBody>
      </p:sp>
      <p:sp>
        <p:nvSpPr>
          <p:cNvPr id="11" name="Rounded Rectangle 10"/>
          <p:cNvSpPr/>
          <p:nvPr/>
        </p:nvSpPr>
        <p:spPr>
          <a:xfrm>
            <a:off x="6236208"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דרך הירדן</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למדבר סיני</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אל הים הגדול</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לעיר מצרים</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ז׳</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וְהָאֲנָשִׁים רָדְפוּ אַחֲרֵיהֶם דֶּרֶךְ הַיַּרְדֵּן עַל הַמַּעְבְּרוֹת וְהַשַּׁעַר סָגָרוּ אַחֲרֵי כַּאֲשֶׁר יָצְאוּ הָרֹדְפִים אַחֲרֵיהֶם׃</a:t>
            </a:r>
          </a:p>
          <a:p>
            <a:pPr rtl="1" algn="r">
              <a:lnSpc>
                <a:spcPct val="100000"/>
              </a:lnSpc>
              <a:spcAft>
                <a:spcPts val="0"/>
              </a:spcAft>
            </a:pPr>
            <a:r>
              <a:rPr sz="2200" b="0" lang="he-IL" altLang="en-US">
                <a:solidFill>
                  <a:srgbClr val="2B2B3A"/>
                </a:solidFill>
                <a:latin typeface="Arial"/>
                <a:ea typeface="Arial"/>
                <a:cs typeface="Arial"/>
              </a:rPr>
              <a:t>הָרוֹדְפִים חָשְׁבוּ שֶׁהַמְרַגְּלִים חוֹזְרִים לַמַּחֲנֶה – וְרָדְפוּ לְכִוּוּן הַיַּרְדֵּן.</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7</a:t>
            </a:r>
          </a:p>
        </p:txBody>
      </p:sp>
      <p:sp>
        <p:nvSpPr>
          <p:cNvPr id="5" name="Rounded Rectangle 4"/>
          <p:cNvSpPr/>
          <p:nvPr/>
        </p:nvSpPr>
        <p:spPr>
          <a:xfrm>
            <a:off x="320040" y="429768"/>
            <a:ext cx="5925312" cy="585216"/>
          </a:xfrm>
          <a:prstGeom prst="roundRect">
            <a:avLst>
              <a:gd name="adj" fmla="val 50000"/>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925312"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הַשְׁלִימִי אֶת הַפָּסוּק</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רָחָב אָמְרָה לַמְרַגְּלִים:
״יָדַעְתִּי כִּי־נָתַן ה׳ לָכֶם אֶת־________״</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הַזָּהָב</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הָעִיר</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הַמַּיִם</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הָאָרֶץ</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7</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רָחָב אָמְרָה לַמְרַגְּלִים:
״יָדַעְתִּי כִּי־נָתַן ה׳ לָכֶם אֶת־________״</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הַזָּהָב</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הָעִיר</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הַמַּיִם</a:t>
            </a:r>
          </a:p>
        </p:txBody>
      </p:sp>
      <p:sp>
        <p:nvSpPr>
          <p:cNvPr id="23" name="Rounded Rectangle 22"/>
          <p:cNvSpPr/>
          <p:nvPr/>
        </p:nvSpPr>
        <p:spPr>
          <a:xfrm>
            <a:off x="457200"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הָאָרֶץ</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פְּסוּקִים ח׳–ט׳</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וְהֵמָּה טֶרֶם יִשְׁכָּבוּן וְהִיא עָלְתָה עֲלֵיהֶם עַל־הַגָּג׃</a:t>
            </a:r>
          </a:p>
          <a:p>
            <a:pPr rtl="1" algn="r">
              <a:lnSpc>
                <a:spcPct val="100000"/>
              </a:lnSpc>
              <a:spcAft>
                <a:spcPts val="400"/>
              </a:spcAft>
            </a:pPr>
            <a:r>
              <a:rPr sz="2600" b="1" lang="he-IL" altLang="en-US">
                <a:solidFill>
                  <a:srgbClr val="23305E"/>
                </a:solidFill>
                <a:latin typeface="Arial"/>
                <a:ea typeface="Arial"/>
                <a:cs typeface="Arial"/>
              </a:rPr>
              <a:t>וַתֹּאמֶר אֶל־הָאֲנָשִׁים יָדַעְתִּי כִּי־נָתַן ה׳ לָכֶם אֶת־הָאָרֶץ</a:t>
            </a:r>
          </a:p>
          <a:p>
            <a:pPr rtl="1" algn="r">
              <a:lnSpc>
                <a:spcPct val="100000"/>
              </a:lnSpc>
              <a:spcAft>
                <a:spcPts val="0"/>
              </a:spcAft>
            </a:pPr>
            <a:r>
              <a:rPr sz="2200" b="0" lang="he-IL" altLang="en-US">
                <a:solidFill>
                  <a:srgbClr val="2B2B3A"/>
                </a:solidFill>
                <a:latin typeface="Arial"/>
                <a:ea typeface="Arial"/>
                <a:cs typeface="Arial"/>
              </a:rPr>
              <a:t>רָחָב יָדְעָה שֶׁה׳ נָתַן לִבְנֵי יִשְׂרָאֵל אֶת כָּל אֶרֶץ כְּנַעַן.</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8</a:t>
            </a:r>
          </a:p>
        </p:txBody>
      </p:sp>
      <p:sp>
        <p:nvSpPr>
          <p:cNvPr id="5" name="Rounded Rectangle 4"/>
          <p:cNvSpPr/>
          <p:nvPr/>
        </p:nvSpPr>
        <p:spPr>
          <a:xfrm>
            <a:off x="320040" y="429768"/>
            <a:ext cx="5313029" cy="585216"/>
          </a:xfrm>
          <a:prstGeom prst="roundRect">
            <a:avLst>
              <a:gd name="adj" fmla="val 50000"/>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313029"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נָכוֹן אוֹ לֹא נָכוֹן?</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רָחָב אָמְרָה שֶׁאַנְשֵׁי הָאָרֶץ
בִּכְלָל לֹא פּוֹחֲדִים מִבְּנֵי יִשְׂרָאֵל.</a:t>
            </a:r>
          </a:p>
        </p:txBody>
      </p:sp>
      <p:sp>
        <p:nvSpPr>
          <p:cNvPr id="9" name="Rounded Rectangle 8"/>
          <p:cNvSpPr/>
          <p:nvPr/>
        </p:nvSpPr>
        <p:spPr>
          <a:xfrm>
            <a:off x="6263640" y="3337560"/>
            <a:ext cx="5394960" cy="2514600"/>
          </a:xfrm>
          <a:prstGeom prst="roundRect">
            <a:avLst>
              <a:gd name="adj" fmla="val 20000"/>
            </a:avLst>
          </a:prstGeom>
          <a:solidFill>
            <a:srgbClr val="2F80ED"/>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נָכוֹן</a:t>
            </a:r>
          </a:p>
        </p:txBody>
      </p:sp>
      <p:sp>
        <p:nvSpPr>
          <p:cNvPr id="11" name="Rounded Rectangle 10"/>
          <p:cNvSpPr/>
          <p:nvPr/>
        </p:nvSpPr>
        <p:spPr>
          <a:xfrm>
            <a:off x="548640" y="3337560"/>
            <a:ext cx="5394960" cy="2514600"/>
          </a:xfrm>
          <a:prstGeom prst="roundRect">
            <a:avLst>
              <a:gd name="adj" fmla="val 20000"/>
            </a:avLst>
          </a:prstGeom>
          <a:solidFill>
            <a:srgbClr val="F2994A"/>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לֹא נָכוֹן</a:t>
            </a:r>
          </a:p>
        </p:txBody>
      </p:sp>
      <p:sp>
        <p:nvSpPr>
          <p:cNvPr id="13" name="Rounded Rectangle 1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15" name="Rectangle 1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8</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רָחָב אָמְרָה שֶׁאַנְשֵׁי הָאָרֶץ
בִּכְלָל לֹא פּוֹחֲדִים מִבְּנֵי יִשְׂרָאֵל.</a:t>
            </a:r>
          </a:p>
        </p:txBody>
      </p:sp>
      <p:sp>
        <p:nvSpPr>
          <p:cNvPr id="11" name="Rounded Rectangle 10"/>
          <p:cNvSpPr/>
          <p:nvPr/>
        </p:nvSpPr>
        <p:spPr>
          <a:xfrm>
            <a:off x="6263640" y="2514600"/>
            <a:ext cx="5394960" cy="1463040"/>
          </a:xfrm>
          <a:prstGeom prst="roundRect">
            <a:avLst>
              <a:gd name="adj" fmla="val 20000"/>
            </a:avLst>
          </a:prstGeom>
          <a:solidFill>
            <a:srgbClr val="D9DCE1"/>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8A8F99"/>
                </a:solidFill>
                <a:latin typeface="Arial"/>
                <a:ea typeface="Arial"/>
                <a:cs typeface="Arial"/>
              </a:rPr>
              <a:t>נָכוֹן</a:t>
            </a:r>
          </a:p>
        </p:txBody>
      </p:sp>
      <p:sp>
        <p:nvSpPr>
          <p:cNvPr id="13" name="Rounded Rectangle 12"/>
          <p:cNvSpPr/>
          <p:nvPr/>
        </p:nvSpPr>
        <p:spPr>
          <a:xfrm>
            <a:off x="548640" y="2514600"/>
            <a:ext cx="5394960" cy="1463040"/>
          </a:xfrm>
          <a:prstGeom prst="roundRect">
            <a:avLst>
              <a:gd name="adj" fmla="val 20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FFFFFF"/>
                </a:solidFill>
                <a:latin typeface="Arial"/>
                <a:ea typeface="Arial"/>
                <a:cs typeface="Arial"/>
              </a:rPr>
              <a:t>✓  לֹא נָכוֹן</a:t>
            </a:r>
          </a:p>
        </p:txBody>
      </p:sp>
      <p:sp>
        <p:nvSpPr>
          <p:cNvPr id="15" name="Rounded Rectangle 14"/>
          <p:cNvSpPr/>
          <p:nvPr/>
        </p:nvSpPr>
        <p:spPr>
          <a:xfrm>
            <a:off x="457200" y="4160520"/>
            <a:ext cx="11277295" cy="2011680"/>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42655" y="3941063"/>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2655" y="3941063"/>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פְּסוּקִים ט׳, י״א</a:t>
            </a:r>
          </a:p>
        </p:txBody>
      </p:sp>
      <p:sp>
        <p:nvSpPr>
          <p:cNvPr id="18" name="TextBox 17"/>
          <p:cNvSpPr txBox="1"/>
          <p:nvPr/>
        </p:nvSpPr>
        <p:spPr>
          <a:xfrm>
            <a:off x="685800" y="4361688"/>
            <a:ext cx="10820095" cy="1755648"/>
          </a:xfrm>
          <a:prstGeom prst="rect">
            <a:avLst/>
          </a:prstGeom>
          <a:noFill/>
        </p:spPr>
        <p:txBody>
          <a:bodyPr wrap="square" tIns="27432" bIns="27432" anchor="ctr">
            <a:spAutoFit/>
          </a:bodyPr>
          <a:lstStyle/>
          <a:p>
            <a:pPr rtl="1" algn="r">
              <a:lnSpc>
                <a:spcPct val="100000"/>
              </a:lnSpc>
              <a:spcAft>
                <a:spcPts val="400"/>
              </a:spcAft>
            </a:pPr>
            <a:r>
              <a:rPr sz="2400" b="1" lang="he-IL" altLang="en-US">
                <a:solidFill>
                  <a:srgbClr val="23305E"/>
                </a:solidFill>
                <a:latin typeface="Arial"/>
                <a:ea typeface="Arial"/>
                <a:cs typeface="Arial"/>
              </a:rPr>
              <a:t>ט׳: וְכִי־נָפְלָה אֵימַתְכֶם עָלֵינוּ וְכִי נָמֹגוּ כָּל־יֹשְׁבֵי הָאָרֶץ מִפְּנֵיכֶם</a:t>
            </a:r>
          </a:p>
          <a:p>
            <a:pPr rtl="1" algn="r">
              <a:lnSpc>
                <a:spcPct val="100000"/>
              </a:lnSpc>
              <a:spcAft>
                <a:spcPts val="400"/>
              </a:spcAft>
            </a:pPr>
            <a:r>
              <a:rPr sz="2400" b="1" lang="he-IL" altLang="en-US">
                <a:solidFill>
                  <a:srgbClr val="23305E"/>
                </a:solidFill>
                <a:latin typeface="Arial"/>
                <a:ea typeface="Arial"/>
                <a:cs typeface="Arial"/>
              </a:rPr>
              <a:t>י״א: וַנִּשְׁמַע וַיִּמַּס לְבָבֵנוּ וְלֹא־קָמָה עוֹד רוּחַ בְּאִישׁ מִפְּנֵיכֶם</a:t>
            </a:r>
          </a:p>
          <a:p>
            <a:pPr rtl="1" algn="r">
              <a:lnSpc>
                <a:spcPct val="100000"/>
              </a:lnSpc>
              <a:spcAft>
                <a:spcPts val="0"/>
              </a:spcAft>
            </a:pPr>
            <a:r>
              <a:rPr sz="2200" b="0" lang="he-IL" altLang="en-US">
                <a:solidFill>
                  <a:srgbClr val="2B2B3A"/>
                </a:solidFill>
                <a:latin typeface="Arial"/>
                <a:ea typeface="Arial"/>
                <a:cs typeface="Arial"/>
              </a:rPr>
              <a:t>לֹא נָכוֹן! כֻּלָּם פָּחֲדוּ מְאֹד – ״וַיִּמַּס לְבָבֵנוּ״, הַלֵּב שֶׁלָּהֶם נָמֵס מִפַּחַד.</a:t>
            </a:r>
          </a:p>
        </p:txBody>
      </p:sp>
      <p:sp>
        <p:nvSpPr>
          <p:cNvPr id="19" name="Rounded Rectangle 18">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9</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עַל אֵיזֶה נֵס שָׁמְעוּ אַנְשֵׁי יְרִיחוֹ,
לְפִי מָה שֶׁרָחָב סִפְּרָה?</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המן במדבר</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קריעת ים סוף</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מכת בכורות</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עמוד הענן</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9</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עַל אֵיזֶה נֵס שָׁמְעוּ אַנְשֵׁי יְרִיחוֹ,
לְפִי מָה שֶׁרָחָב סִפְּרָה?</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המן במדבר</a:t>
            </a:r>
          </a:p>
        </p:txBody>
      </p:sp>
      <p:sp>
        <p:nvSpPr>
          <p:cNvPr id="15" name="Rounded Rectangle 14"/>
          <p:cNvSpPr/>
          <p:nvPr/>
        </p:nvSpPr>
        <p:spPr>
          <a:xfrm>
            <a:off x="457200"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קריעת ים סוף</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מכת בכורות</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עמוד הענן</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י׳</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כִּי שָׁמַעְנוּ אֵת אֲשֶׁר־הוֹבִישׁ ה׳ אֶת־מֵי יַם־סוּף מִפְּנֵיכֶם בְּצֵאתְכֶם מִמִּצְרָיִם</a:t>
            </a:r>
          </a:p>
          <a:p>
            <a:pPr rtl="1" algn="r">
              <a:lnSpc>
                <a:spcPct val="100000"/>
              </a:lnSpc>
              <a:spcAft>
                <a:spcPts val="0"/>
              </a:spcAft>
            </a:pPr>
            <a:r>
              <a:rPr sz="2200" b="0" lang="he-IL" altLang="en-US">
                <a:solidFill>
                  <a:srgbClr val="2B2B3A"/>
                </a:solidFill>
                <a:latin typeface="Arial"/>
                <a:ea typeface="Arial"/>
                <a:cs typeface="Arial"/>
              </a:rPr>
              <a:t>״הוֹבִישׁ ה׳ אֶת־מֵי יַם־סוּף״ – ה׳ יִבֵּשׁ אֶת הַמַּיִם, וְכָל הָעוֹלָם שָׁמַע עַל זֶה!</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10</a:t>
            </a:r>
          </a:p>
        </p:txBody>
      </p:sp>
      <p:sp>
        <p:nvSpPr>
          <p:cNvPr id="5" name="Rounded Rectangle 4"/>
          <p:cNvSpPr/>
          <p:nvPr/>
        </p:nvSpPr>
        <p:spPr>
          <a:xfrm>
            <a:off x="320040" y="429768"/>
            <a:ext cx="4088465" cy="585216"/>
          </a:xfrm>
          <a:prstGeom prst="roundRect">
            <a:avLst>
              <a:gd name="adj" fmla="val 50000"/>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פֵּרוּשׁ מִלִּים</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״וּנְתַתֶּם לִי אוֹת אֱמֶת״ –
מָה זֶה ״אוֹת אֱמֶת״?</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אות באלף־בית</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מכתב ארוך</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סימן נאמן שאפשר לסמוך עליו</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מתנה של זהב</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10</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״וּנְתַתֶּם לִי אוֹת אֱמֶת״ –
מָה זֶה ״אוֹת אֱמֶת״?</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אות באלף־בית</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מכתב ארוך</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סימן נאמן שאפשר לסמוך עליו</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מתנה של זהב</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י״ב</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וְעַתָּה הִשָּׁבְעוּ־נָא לִי בַּה׳ כִּי־עָשִׂיתִי עִמָּכֶם חָסֶד וַעֲשִׂיתֶם גַּם־אַתֶּם עִם־בֵּית אָבִי חֶסֶד וּנְתַתֶּם לִי אוֹת אֱמֶת׃</a:t>
            </a:r>
          </a:p>
          <a:p>
            <a:pPr rtl="1" algn="r">
              <a:lnSpc>
                <a:spcPct val="100000"/>
              </a:lnSpc>
              <a:spcAft>
                <a:spcPts val="0"/>
              </a:spcAft>
            </a:pPr>
            <a:r>
              <a:rPr sz="2200" b="0" lang="he-IL" altLang="en-US">
                <a:solidFill>
                  <a:srgbClr val="2B2B3A"/>
                </a:solidFill>
                <a:latin typeface="Arial"/>
                <a:ea typeface="Arial"/>
                <a:cs typeface="Arial"/>
              </a:rPr>
              <a:t>רָחָב בִּקְּשָׁה שֶׁיִּשָּׁבְעוּ לָהּ, וְיִתְּנוּ לָהּ סִימָן בָּטוּחַ שֶׁהֵם יַצִּילוּ אֶת מִשְׁפַּחְתָּהּ.</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731520" y="640080"/>
            <a:ext cx="1005840" cy="100584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515600" y="731520"/>
            <a:ext cx="822960" cy="82296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097280" y="4480560"/>
            <a:ext cx="731520" cy="73152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241280" y="4206240"/>
            <a:ext cx="1005840" cy="100584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2926080" y="457200"/>
            <a:ext cx="457200" cy="45720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8778240" y="457200"/>
            <a:ext cx="502920" cy="502920"/>
          </a:xfrm>
          <a:prstGeom prst="star5">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4572000" y="5394960"/>
            <a:ext cx="457200" cy="45720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315200" y="5394960"/>
            <a:ext cx="457200" cy="45720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1097280"/>
            <a:ext cx="9448495" cy="1737360"/>
          </a:xfrm>
          <a:prstGeom prst="rect">
            <a:avLst/>
          </a:prstGeom>
          <a:noFill/>
        </p:spPr>
        <p:txBody>
          <a:bodyPr wrap="square" tIns="27432" bIns="27432" anchor="ctr">
            <a:spAutoFit/>
          </a:bodyPr>
          <a:lstStyle/>
          <a:p>
            <a:pPr rtl="1" algn="ctr">
              <a:lnSpc>
                <a:spcPct val="100000"/>
              </a:lnSpc>
              <a:spcAft>
                <a:spcPts val="0"/>
              </a:spcAft>
            </a:pPr>
            <a:r>
              <a:rPr sz="9600" b="1" lang="he-IL" altLang="en-US">
                <a:solidFill>
                  <a:srgbClr val="FFC233"/>
                </a:solidFill>
                <a:latin typeface="Arial"/>
                <a:ea typeface="Arial"/>
                <a:cs typeface="Arial"/>
              </a:rPr>
              <a:t>כָּל הַכָּבוֹד!</a:t>
            </a:r>
          </a:p>
        </p:txBody>
      </p:sp>
      <p:sp>
        <p:nvSpPr>
          <p:cNvPr id="12" name="TextBox 11"/>
          <p:cNvSpPr txBox="1"/>
          <p:nvPr/>
        </p:nvSpPr>
        <p:spPr>
          <a:xfrm>
            <a:off x="1371600" y="2880360"/>
            <a:ext cx="9448495" cy="822960"/>
          </a:xfrm>
          <a:prstGeom prst="rect">
            <a:avLst/>
          </a:prstGeom>
          <a:noFill/>
        </p:spPr>
        <p:txBody>
          <a:bodyPr wrap="square" tIns="27432" bIns="27432" anchor="ctr">
            <a:spAutoFit/>
          </a:bodyPr>
          <a:lstStyle/>
          <a:p>
            <a:pPr rtl="1" algn="ctr">
              <a:lnSpc>
                <a:spcPct val="100000"/>
              </a:lnSpc>
              <a:spcAft>
                <a:spcPts val="0"/>
              </a:spcAft>
            </a:pPr>
            <a:r>
              <a:rPr sz="3600" b="1" lang="he-IL" altLang="en-US">
                <a:solidFill>
                  <a:srgbClr val="FFFFFF"/>
                </a:solidFill>
                <a:latin typeface="Arial"/>
                <a:ea typeface="Arial"/>
                <a:cs typeface="Arial"/>
              </a:rPr>
              <a:t>סִיַּמְנוּ אֶת חִידוֹן א׳!</a:t>
            </a:r>
          </a:p>
        </p:txBody>
      </p:sp>
      <p:sp>
        <p:nvSpPr>
          <p:cNvPr id="13" name="TextBox 12"/>
          <p:cNvSpPr txBox="1"/>
          <p:nvPr/>
        </p:nvSpPr>
        <p:spPr>
          <a:xfrm>
            <a:off x="1371600" y="3657600"/>
            <a:ext cx="9448495" cy="822960"/>
          </a:xfrm>
          <a:prstGeom prst="rect">
            <a:avLst/>
          </a:prstGeom>
          <a:noFill/>
        </p:spPr>
        <p:txBody>
          <a:bodyPr wrap="square" tIns="27432" bIns="27432" anchor="ctr">
            <a:spAutoFit/>
          </a:bodyPr>
          <a:lstStyle/>
          <a:p>
            <a:pPr rtl="1" algn="ctr">
              <a:lnSpc>
                <a:spcPct val="100000"/>
              </a:lnSpc>
              <a:spcAft>
                <a:spcPts val="0"/>
              </a:spcAft>
            </a:pPr>
            <a:r>
              <a:rPr sz="2800" b="0" lang="he-IL" altLang="en-US">
                <a:solidFill>
                  <a:srgbClr val="FFFFFF"/>
                </a:solidFill>
                <a:latin typeface="Arial"/>
                <a:ea typeface="Arial"/>
                <a:cs typeface="Arial"/>
              </a:rPr>
              <a:t>בּוֹאוּ נִסְפֹּר נְקוּדוֹת – מִי הַקְּבוּצָה הַמְּנַצַּחַת?</a:t>
            </a:r>
          </a:p>
        </p:txBody>
      </p:sp>
      <p:sp>
        <p:nvSpPr>
          <p:cNvPr id="14" name="Rounded Rectangle 13">
            <a:hlinkClick action="ppaction://hlinksldjump" r:id="rId3"/>
          </p:cNvPr>
          <p:cNvSpPr/>
          <p:nvPr/>
        </p:nvSpPr>
        <p:spPr>
          <a:xfrm>
            <a:off x="4267047" y="4709160"/>
            <a:ext cx="3657600" cy="777240"/>
          </a:xfrm>
          <a:prstGeom prst="roundRect">
            <a:avLst>
              <a:gd name="adj" fmla="val 50000"/>
            </a:avLst>
          </a:prstGeom>
          <a:solidFill>
            <a:srgbClr val="F25C9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3"/>
          </p:cNvPr>
          <p:cNvSpPr txBox="1"/>
          <p:nvPr/>
        </p:nvSpPr>
        <p:spPr>
          <a:xfrm>
            <a:off x="4267047" y="4709160"/>
            <a:ext cx="3657600" cy="777240"/>
          </a:xfrm>
          <a:prstGeom prst="rect">
            <a:avLst/>
          </a:prstGeom>
          <a:noFill/>
        </p:spPr>
        <p:txBody>
          <a:bodyPr wrap="square" tIns="27432" bIns="27432" anchor="ctr">
            <a:spAutoFit/>
          </a:bodyPr>
          <a:lstStyle/>
          <a:p>
            <a:pPr rtl="1" algn="ctr">
              <a:lnSpc>
                <a:spcPct val="100000"/>
              </a:lnSpc>
              <a:spcAft>
                <a:spcPts val="0"/>
              </a:spcAft>
            </a:pPr>
            <a:r>
              <a:rPr sz="2800" b="1" lang="he-IL" altLang="en-US">
                <a:solidFill>
                  <a:srgbClr val="FFFFFF"/>
                </a:solidFill>
                <a:latin typeface="Arial"/>
                <a:ea typeface="Arial"/>
                <a:cs typeface="Arial"/>
              </a:rPr>
              <a:t>לְחִידוֹן ב׳ ◄</a:t>
            </a:r>
          </a:p>
        </p:txBody>
      </p:sp>
      <p:sp>
        <p:nvSpPr>
          <p:cNvPr id="16" name="Rounded Rectangle 15">
            <a:hlinkClick action="ppaction://hlinksldjump" r:id="rId4"/>
          </p:cNvPr>
          <p:cNvSpPr/>
          <p:nvPr/>
        </p:nvSpPr>
        <p:spPr>
          <a:xfrm>
            <a:off x="228600" y="6236208"/>
            <a:ext cx="1234440" cy="420624"/>
          </a:xfrm>
          <a:prstGeom prst="roundRect">
            <a:avLst>
              <a:gd name="adj" fmla="val 50000"/>
            </a:avLst>
          </a:prstGeom>
          <a:solidFill>
            <a:srgbClr val="2E1A5E"/>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action="ppaction://hlinksldjump" r:id="rId4"/>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FFFFFF"/>
                </a:solidFill>
                <a:latin typeface="Arial"/>
                <a:ea typeface="Arial"/>
                <a:cs typeface="Arial"/>
              </a:rPr>
              <a:t>⌂ תַּפְרִיט</a:t>
            </a:r>
          </a:p>
        </p:txBody>
      </p:sp>
      <p:sp>
        <p:nvSpPr>
          <p:cNvPr id="18" name="Rectangle 17"/>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914400" y="914400"/>
            <a:ext cx="822960" cy="82296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424160" y="1188720"/>
            <a:ext cx="640080" cy="64008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645920" y="5120640"/>
            <a:ext cx="548640" cy="54864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058400" y="4937760"/>
            <a:ext cx="914400" cy="91440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760720" y="5760720"/>
            <a:ext cx="411480" cy="41148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194560" y="1463040"/>
            <a:ext cx="7802575" cy="2194560"/>
          </a:xfrm>
          <a:prstGeom prst="roundRect">
            <a:avLst>
              <a:gd name="adj" fmla="val 25000"/>
            </a:avLst>
          </a:prstGeom>
          <a:solidFill>
            <a:srgbClr val="2F80ED"/>
          </a:solidFill>
          <a:ln w="762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1463040"/>
            <a:ext cx="7802575" cy="2194560"/>
          </a:xfrm>
          <a:prstGeom prst="rect">
            <a:avLst/>
          </a:prstGeom>
          <a:noFill/>
        </p:spPr>
        <p:txBody>
          <a:bodyPr wrap="square" tIns="27432" bIns="27432" anchor="ctr">
            <a:spAutoFit/>
          </a:bodyPr>
          <a:lstStyle/>
          <a:p>
            <a:pPr rtl="1" algn="ctr">
              <a:lnSpc>
                <a:spcPct val="100000"/>
              </a:lnSpc>
              <a:spcAft>
                <a:spcPts val="0"/>
              </a:spcAft>
            </a:pPr>
            <a:r>
              <a:rPr sz="8000" b="1" lang="he-IL" altLang="en-US">
                <a:solidFill>
                  <a:srgbClr val="FFFFFF"/>
                </a:solidFill>
                <a:latin typeface="Arial"/>
                <a:ea typeface="Arial"/>
                <a:cs typeface="Arial"/>
              </a:rPr>
              <a:t>חִידוֹן ב׳</a:t>
            </a:r>
          </a:p>
        </p:txBody>
      </p:sp>
      <p:sp>
        <p:nvSpPr>
          <p:cNvPr id="10" name="TextBox 9"/>
          <p:cNvSpPr txBox="1"/>
          <p:nvPr/>
        </p:nvSpPr>
        <p:spPr>
          <a:xfrm>
            <a:off x="1371600" y="3886200"/>
            <a:ext cx="9448495" cy="822960"/>
          </a:xfrm>
          <a:prstGeom prst="rect">
            <a:avLst/>
          </a:prstGeom>
          <a:noFill/>
        </p:spPr>
        <p:txBody>
          <a:bodyPr wrap="square" tIns="27432" bIns="27432" anchor="ctr">
            <a:spAutoFit/>
          </a:bodyPr>
          <a:lstStyle/>
          <a:p>
            <a:pPr rtl="1" algn="ctr">
              <a:lnSpc>
                <a:spcPct val="100000"/>
              </a:lnSpc>
              <a:spcAft>
                <a:spcPts val="0"/>
              </a:spcAft>
            </a:pPr>
            <a:r>
              <a:rPr sz="3400" b="1" lang="he-IL" altLang="en-US">
                <a:solidFill>
                  <a:srgbClr val="FFC233"/>
                </a:solidFill>
                <a:latin typeface="Arial"/>
                <a:ea typeface="Arial"/>
                <a:cs typeface="Arial"/>
              </a:rPr>
              <a:t>יְהוֹשֻׁעַ פֶּרֶק ב׳ · פְּסוּקִים י״ג–כ״ד</a:t>
            </a:r>
          </a:p>
        </p:txBody>
      </p:sp>
      <p:sp>
        <p:nvSpPr>
          <p:cNvPr id="11" name="TextBox 10"/>
          <p:cNvSpPr txBox="1"/>
          <p:nvPr/>
        </p:nvSpPr>
        <p:spPr>
          <a:xfrm>
            <a:off x="1371600" y="4663440"/>
            <a:ext cx="9448495" cy="731520"/>
          </a:xfrm>
          <a:prstGeom prst="rect">
            <a:avLst/>
          </a:prstGeom>
          <a:noFill/>
        </p:spPr>
        <p:txBody>
          <a:bodyPr wrap="square" tIns="27432" bIns="27432" anchor="ctr">
            <a:spAutoFit/>
          </a:bodyPr>
          <a:lstStyle/>
          <a:p>
            <a:pPr rtl="1" algn="ctr">
              <a:lnSpc>
                <a:spcPct val="100000"/>
              </a:lnSpc>
              <a:spcAft>
                <a:spcPts val="0"/>
              </a:spcAft>
            </a:pPr>
            <a:r>
              <a:rPr sz="2600" b="0" lang="he-IL" altLang="en-US">
                <a:solidFill>
                  <a:srgbClr val="FFFFFF"/>
                </a:solidFill>
                <a:latin typeface="Arial"/>
                <a:ea typeface="Arial"/>
                <a:cs typeface="Arial"/>
              </a:rPr>
              <a:t>10 שְׁאֵלוֹת · כָּל תְּשׁוּבָה נְכוֹנָה = 10 נְקוּדוֹת</a:t>
            </a:r>
          </a:p>
        </p:txBody>
      </p:sp>
      <p:sp>
        <p:nvSpPr>
          <p:cNvPr id="12" name="Rounded Rectangle 11">
            <a:hlinkClick action="ppaction://hlinksldjump" r:id="rId3"/>
          </p:cNvPr>
          <p:cNvSpPr/>
          <p:nvPr/>
        </p:nvSpPr>
        <p:spPr>
          <a:xfrm>
            <a:off x="228600" y="6236208"/>
            <a:ext cx="1234440" cy="420624"/>
          </a:xfrm>
          <a:prstGeom prst="roundRect">
            <a:avLst>
              <a:gd name="adj" fmla="val 50000"/>
            </a:avLst>
          </a:prstGeom>
          <a:solidFill>
            <a:srgbClr val="2E1A5E"/>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FFFFFF"/>
                </a:solidFill>
                <a:latin typeface="Arial"/>
                <a:ea typeface="Arial"/>
                <a:cs typeface="Arial"/>
              </a:rPr>
              <a:t>⌂ תַּפְרִיט</a:t>
            </a:r>
          </a:p>
        </p:txBody>
      </p:sp>
      <p:sp>
        <p:nvSpPr>
          <p:cNvPr id="14" name="Rectangle 13"/>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1</a:t>
            </a:r>
          </a:p>
        </p:txBody>
      </p:sp>
      <p:sp>
        <p:nvSpPr>
          <p:cNvPr id="5" name="Rounded Rectangle 4"/>
          <p:cNvSpPr/>
          <p:nvPr/>
        </p:nvSpPr>
        <p:spPr>
          <a:xfrm>
            <a:off x="320040" y="429768"/>
            <a:ext cx="4088465" cy="585216"/>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מִי אָמַר לְמִי?</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״נַפְשֵׁנוּ תַחְתֵּיכֶם לָמוּת״
מִי אָמַר לְמִי?</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רחב למרגלים</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מלך יריחו לרחב</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המרגלים לרחב</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יהושע למרגלים</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1</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״נַפְשֵׁנוּ תַחְתֵּיכֶם לָמוּת״
מִי אָמַר לְמִי?</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רחב למרגלים</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מלך יריחו לרחב</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המרגלים לרחב</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יהושע למרגלים</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י״ד</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וַיֹּאמְרוּ לָהּ הָאֲנָשִׁים נַפְשֵׁנוּ תַחְתֵּיכֶם לָמוּת אִם לֹא תַגִּידוּ אֶת־דְּבָרֵנוּ זֶה וְהָיָה בְּתֵת־ה׳ לָנוּ אֶת־הָאָרֶץ וְעָשִׂינוּ עִמָּךְ חֶסֶד וֶאֱמֶת׃</a:t>
            </a:r>
          </a:p>
          <a:p>
            <a:pPr rtl="1" algn="r">
              <a:lnSpc>
                <a:spcPct val="100000"/>
              </a:lnSpc>
              <a:spcAft>
                <a:spcPts val="0"/>
              </a:spcAft>
            </a:pPr>
            <a:r>
              <a:rPr sz="2200" b="0" lang="he-IL" altLang="en-US">
                <a:solidFill>
                  <a:srgbClr val="2B2B3A"/>
                </a:solidFill>
                <a:latin typeface="Arial"/>
                <a:ea typeface="Arial"/>
                <a:cs typeface="Arial"/>
              </a:rPr>
              <a:t>הַמְרַגְּלִים הִבְטִיחוּ לְרָחָב: כְּמוֹ שֶׁהִצַּלְתְּ אוֹתָנוּ – אֲנַחְנוּ נַצִּיל אֶתְכֶם.</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2</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אֵיךְ יָצְאוּ הַמְרַגְּלִים מֵהַבַּיִת שֶׁל רָחָב?</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דרך שער העיר</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ירדו בחבל דרך החלון</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קפצו מהגג</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חפרו מנהרה</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2</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אֵיךְ יָצְאוּ הַמְרַגְּלִים מֵהַבַּיִת שֶׁל רָחָב?</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דרך שער העיר</a:t>
            </a:r>
          </a:p>
        </p:txBody>
      </p:sp>
      <p:sp>
        <p:nvSpPr>
          <p:cNvPr id="15" name="Rounded Rectangle 14"/>
          <p:cNvSpPr/>
          <p:nvPr/>
        </p:nvSpPr>
        <p:spPr>
          <a:xfrm>
            <a:off x="457200"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ירדו בחבל דרך החלון</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קפצו מהגג</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חפרו מנהרה</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ט״ו</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וַתּוֹרִדֵם בַּחֶבֶל בְּעַד הַחַלּוֹן כִּי בֵיתָהּ בְּקִיר הַחוֹמָה וּבַחוֹמָה הִיא יוֹשָׁבֶת׃</a:t>
            </a:r>
          </a:p>
          <a:p>
            <a:pPr rtl="1" algn="r">
              <a:lnSpc>
                <a:spcPct val="100000"/>
              </a:lnSpc>
              <a:spcAft>
                <a:spcPts val="0"/>
              </a:spcAft>
            </a:pPr>
            <a:r>
              <a:rPr sz="2200" b="0" lang="he-IL" altLang="en-US">
                <a:solidFill>
                  <a:srgbClr val="2B2B3A"/>
                </a:solidFill>
                <a:latin typeface="Arial"/>
                <a:ea typeface="Arial"/>
                <a:cs typeface="Arial"/>
              </a:rPr>
              <a:t>רָחָב הוֹרִידָה אוֹתָם בְּחֶבֶל מֵהַחַלּוֹן – אֶל מִחוּץ לָעִיר.</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3</a:t>
            </a:r>
          </a:p>
        </p:txBody>
      </p:sp>
      <p:sp>
        <p:nvSpPr>
          <p:cNvPr id="5" name="Rounded Rectangle 4"/>
          <p:cNvSpPr/>
          <p:nvPr/>
        </p:nvSpPr>
        <p:spPr>
          <a:xfrm>
            <a:off x="320040" y="429768"/>
            <a:ext cx="5313029" cy="585216"/>
          </a:xfrm>
          <a:prstGeom prst="roundRect">
            <a:avLst>
              <a:gd name="adj" fmla="val 50000"/>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313029"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נָכוֹן אוֹ לֹא נָכוֹן?</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הַבַּיִת שֶׁל רָחָב הָיָה בְּתוֹךְ חוֹמַת הָעִיר.</a:t>
            </a:r>
          </a:p>
        </p:txBody>
      </p:sp>
      <p:sp>
        <p:nvSpPr>
          <p:cNvPr id="9" name="Rounded Rectangle 8"/>
          <p:cNvSpPr/>
          <p:nvPr/>
        </p:nvSpPr>
        <p:spPr>
          <a:xfrm>
            <a:off x="6263640" y="3337560"/>
            <a:ext cx="5394960" cy="2514600"/>
          </a:xfrm>
          <a:prstGeom prst="roundRect">
            <a:avLst>
              <a:gd name="adj" fmla="val 20000"/>
            </a:avLst>
          </a:prstGeom>
          <a:solidFill>
            <a:srgbClr val="2F80ED"/>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נָכוֹן</a:t>
            </a:r>
          </a:p>
        </p:txBody>
      </p:sp>
      <p:sp>
        <p:nvSpPr>
          <p:cNvPr id="11" name="Rounded Rectangle 10"/>
          <p:cNvSpPr/>
          <p:nvPr/>
        </p:nvSpPr>
        <p:spPr>
          <a:xfrm>
            <a:off x="548640" y="3337560"/>
            <a:ext cx="5394960" cy="2514600"/>
          </a:xfrm>
          <a:prstGeom prst="roundRect">
            <a:avLst>
              <a:gd name="adj" fmla="val 20000"/>
            </a:avLst>
          </a:prstGeom>
          <a:solidFill>
            <a:srgbClr val="F2994A"/>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לֹא נָכוֹן</a:t>
            </a:r>
          </a:p>
        </p:txBody>
      </p:sp>
      <p:sp>
        <p:nvSpPr>
          <p:cNvPr id="13" name="Rounded Rectangle 1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15" name="Rectangle 1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3</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הַבַּיִת שֶׁל רָחָב הָיָה בְּתוֹךְ חוֹמַת הָעִיר.</a:t>
            </a:r>
          </a:p>
        </p:txBody>
      </p:sp>
      <p:sp>
        <p:nvSpPr>
          <p:cNvPr id="11" name="Rounded Rectangle 10"/>
          <p:cNvSpPr/>
          <p:nvPr/>
        </p:nvSpPr>
        <p:spPr>
          <a:xfrm>
            <a:off x="6263640" y="2514600"/>
            <a:ext cx="5394960" cy="1463040"/>
          </a:xfrm>
          <a:prstGeom prst="roundRect">
            <a:avLst>
              <a:gd name="adj" fmla="val 20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FFFFFF"/>
                </a:solidFill>
                <a:latin typeface="Arial"/>
                <a:ea typeface="Arial"/>
                <a:cs typeface="Arial"/>
              </a:rPr>
              <a:t>✓  נָכוֹן</a:t>
            </a:r>
          </a:p>
        </p:txBody>
      </p:sp>
      <p:sp>
        <p:nvSpPr>
          <p:cNvPr id="13" name="Rounded Rectangle 12"/>
          <p:cNvSpPr/>
          <p:nvPr/>
        </p:nvSpPr>
        <p:spPr>
          <a:xfrm>
            <a:off x="548640" y="2514600"/>
            <a:ext cx="5394960" cy="1463040"/>
          </a:xfrm>
          <a:prstGeom prst="roundRect">
            <a:avLst>
              <a:gd name="adj" fmla="val 20000"/>
            </a:avLst>
          </a:prstGeom>
          <a:solidFill>
            <a:srgbClr val="D9DCE1"/>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8A8F99"/>
                </a:solidFill>
                <a:latin typeface="Arial"/>
                <a:ea typeface="Arial"/>
                <a:cs typeface="Arial"/>
              </a:rPr>
              <a:t>לֹא נָכוֹן</a:t>
            </a:r>
          </a:p>
        </p:txBody>
      </p:sp>
      <p:sp>
        <p:nvSpPr>
          <p:cNvPr id="15" name="Rounded Rectangle 14"/>
          <p:cNvSpPr/>
          <p:nvPr/>
        </p:nvSpPr>
        <p:spPr>
          <a:xfrm>
            <a:off x="457200" y="4160520"/>
            <a:ext cx="11277295" cy="2011680"/>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42655" y="3941063"/>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2655" y="3941063"/>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ט״ו</a:t>
            </a:r>
          </a:p>
        </p:txBody>
      </p:sp>
      <p:sp>
        <p:nvSpPr>
          <p:cNvPr id="18" name="TextBox 17"/>
          <p:cNvSpPr txBox="1"/>
          <p:nvPr/>
        </p:nvSpPr>
        <p:spPr>
          <a:xfrm>
            <a:off x="685800" y="4361688"/>
            <a:ext cx="10820095" cy="1755648"/>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כִּי בֵיתָהּ בְּקִיר הַחוֹמָה וּבַחוֹמָה הִיא יוֹשָׁבֶת</a:t>
            </a:r>
          </a:p>
          <a:p>
            <a:pPr rtl="1" algn="r">
              <a:lnSpc>
                <a:spcPct val="100000"/>
              </a:lnSpc>
              <a:spcAft>
                <a:spcPts val="0"/>
              </a:spcAft>
            </a:pPr>
            <a:r>
              <a:rPr sz="2200" b="0" lang="he-IL" altLang="en-US">
                <a:solidFill>
                  <a:srgbClr val="2B2B3A"/>
                </a:solidFill>
                <a:latin typeface="Arial"/>
                <a:ea typeface="Arial"/>
                <a:cs typeface="Arial"/>
              </a:rPr>
              <a:t>נָכוֹן! ״כִּי בֵיתָהּ בְּקִיר הַחוֹמָה״ – לָכֵן הַחַלּוֹן שֶׁלָּהּ פָּנָה אֶל מִחוּץ לָעִיר.</a:t>
            </a:r>
          </a:p>
        </p:txBody>
      </p:sp>
      <p:sp>
        <p:nvSpPr>
          <p:cNvPr id="19" name="Rounded Rectangle 18">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4</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לְאָן אָמְרָה רָחָב לַמְרַגְּלִים לָלֶכֶת
כְּדֵי לְהִתְחַבֵּא?</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לירדן</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למדבר</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לשדה</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להר</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4</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לְאָן אָמְרָה רָחָב לַמְרַגְּלִים לָלֶכֶת
כְּדֵי לְהִתְחַבֵּא?</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לירדן</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למדבר</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לשדה</a:t>
            </a:r>
          </a:p>
        </p:txBody>
      </p:sp>
      <p:sp>
        <p:nvSpPr>
          <p:cNvPr id="23" name="Rounded Rectangle 22"/>
          <p:cNvSpPr/>
          <p:nvPr/>
        </p:nvSpPr>
        <p:spPr>
          <a:xfrm>
            <a:off x="457200"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להר</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ט״ז</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וַתֹּאמֶר לָהֶם הָהָרָה לֵּכוּ פֶּן־יִפְגְּעוּ בָכֶם הָרֹדְפִים וְנַחְבֵּתֶם שָׁמָּה שְׁלֹשֶׁת יָמִים עַד שׁוֹב הָרֹדְפִים וְאַחַר תֵּלְכוּ לְדַרְכְּכֶם׃</a:t>
            </a:r>
          </a:p>
          <a:p>
            <a:pPr rtl="1" algn="r">
              <a:lnSpc>
                <a:spcPct val="100000"/>
              </a:lnSpc>
              <a:spcAft>
                <a:spcPts val="0"/>
              </a:spcAft>
            </a:pPr>
            <a:r>
              <a:rPr sz="2200" b="0" lang="he-IL" altLang="en-US">
                <a:solidFill>
                  <a:srgbClr val="2B2B3A"/>
                </a:solidFill>
                <a:latin typeface="Arial"/>
                <a:ea typeface="Arial"/>
                <a:cs typeface="Arial"/>
              </a:rPr>
              <a:t>״הָהָרָה לֵּכוּ״ – לְכוּ לָהָר, וְהִתְחַבְּאוּ שָׁם עַד שֶׁהָרוֹדְפִים יַחְזְרוּ.</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5</a:t>
            </a:r>
          </a:p>
        </p:txBody>
      </p:sp>
      <p:sp>
        <p:nvSpPr>
          <p:cNvPr id="5" name="Rounded Rectangle 4"/>
          <p:cNvSpPr/>
          <p:nvPr/>
        </p:nvSpPr>
        <p:spPr>
          <a:xfrm>
            <a:off x="320040" y="429768"/>
            <a:ext cx="4088465" cy="585216"/>
          </a:xfrm>
          <a:prstGeom prst="roundRect">
            <a:avLst>
              <a:gd name="adj" fmla="val 50000"/>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פֵּרוּשׁ מִלִּים</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000" b="1" lang="he-IL" altLang="en-US">
                <a:solidFill>
                  <a:srgbClr val="23305E"/>
                </a:solidFill>
                <a:latin typeface="Arial"/>
                <a:ea typeface="Arial"/>
                <a:cs typeface="Arial"/>
              </a:rPr>
              <a:t>״אֶת־תִּקְוַת חוּט הַשָּׁנִי הַזֶּה תִּקְשְׁרִי בַּחַלּוֹן״
מָה זֶה ״תִּקְוַת חוּט הַשָּׁנִי״?</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דגל כחול</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חבל בצבע אדום</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נר דולק</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וילון לבן</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5</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״אֶת־תִּקְוַת חוּט הַשָּׁנִי הַזֶּה תִּקְשְׁרִי בַּחַלּוֹן״
מָה זֶה ״תִּקְוַת חוּט הַשָּׁנִי״?</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דגל כחול</a:t>
            </a:r>
          </a:p>
        </p:txBody>
      </p:sp>
      <p:sp>
        <p:nvSpPr>
          <p:cNvPr id="15" name="Rounded Rectangle 14"/>
          <p:cNvSpPr/>
          <p:nvPr/>
        </p:nvSpPr>
        <p:spPr>
          <a:xfrm>
            <a:off x="457200"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חבל בצבע אדום</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נר דולק</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וילון לבן</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י״ח</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הִנֵּה אֲנַחְנוּ בָאִים בָּאָרֶץ אֶת־תִּקְוַת חוּט הַשָּׁנִי הַזֶּה תִּקְשְׁרִי בַּחַלּוֹן אֲשֶׁר הוֹרַדְתֵּנוּ בוֹ</a:t>
            </a:r>
          </a:p>
          <a:p>
            <a:pPr rtl="1" algn="r">
              <a:lnSpc>
                <a:spcPct val="100000"/>
              </a:lnSpc>
              <a:spcAft>
                <a:spcPts val="0"/>
              </a:spcAft>
            </a:pPr>
            <a:r>
              <a:rPr sz="2200" b="0" lang="he-IL" altLang="en-US">
                <a:solidFill>
                  <a:srgbClr val="2B2B3A"/>
                </a:solidFill>
                <a:latin typeface="Arial"/>
                <a:ea typeface="Arial"/>
                <a:cs typeface="Arial"/>
              </a:rPr>
              <a:t>תִּקְוָה = חֶבֶל, שָׁנִי = צֶבַע אָדֹם. זֶה הַסִּימָן שֶׁל הַבַּיִת שֶׁל רָחָב.</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6</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200" b="1" lang="he-IL" altLang="en-US">
                <a:solidFill>
                  <a:srgbClr val="23305E"/>
                </a:solidFill>
                <a:latin typeface="Arial"/>
                <a:ea typeface="Arial"/>
                <a:cs typeface="Arial"/>
              </a:rPr>
              <a:t>מִי יִהְיֶה מוּגָן וְיִנָּצֵל,
לְפִי מָה שֶׁאָמְרוּ הַמְרַגְּלִים?</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כל אנשי יריחו</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רק רחב לבדה</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מי שיצא לרחוב</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כל מי שבבית של רחב</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6</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מִי יִהְיֶה מוּגָן וְיִנָּצֵל,
לְפִי מָה שֶׁאָמְרוּ הַמְרַגְּלִים?</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כל אנשי יריחו</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רק רחב לבדה</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מי שיצא לרחוב</a:t>
            </a:r>
          </a:p>
        </p:txBody>
      </p:sp>
      <p:sp>
        <p:nvSpPr>
          <p:cNvPr id="23" name="Rounded Rectangle 22"/>
          <p:cNvSpPr/>
          <p:nvPr/>
        </p:nvSpPr>
        <p:spPr>
          <a:xfrm>
            <a:off x="457200"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כל מי שבבית של רחב</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פְּסוּקִים י״ח–י״ט</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400" b="1" lang="he-IL" altLang="en-US">
                <a:solidFill>
                  <a:srgbClr val="23305E"/>
                </a:solidFill>
                <a:latin typeface="Arial"/>
                <a:ea typeface="Arial"/>
                <a:cs typeface="Arial"/>
              </a:rPr>
              <a:t>י״ח: וְאֶת־אָבִיךְ וְאֶת־אִמֵּךְ וְאֶת־אַחַיִךְ וְאֵת כָּל־בֵּית אָבִיךְ תַּאַסְפִי אֵלַיִךְ הַבָּיְתָה</a:t>
            </a:r>
          </a:p>
          <a:p>
            <a:pPr rtl="1" algn="r">
              <a:lnSpc>
                <a:spcPct val="100000"/>
              </a:lnSpc>
              <a:spcAft>
                <a:spcPts val="400"/>
              </a:spcAft>
            </a:pPr>
            <a:r>
              <a:rPr sz="2400" b="1" lang="he-IL" altLang="en-US">
                <a:solidFill>
                  <a:srgbClr val="23305E"/>
                </a:solidFill>
                <a:latin typeface="Arial"/>
                <a:ea typeface="Arial"/>
                <a:cs typeface="Arial"/>
              </a:rPr>
              <a:t>י״ט: וְכֹל אֲשֶׁר יִהְיֶה אִתָּךְ בַּבַּיִת</a:t>
            </a:r>
          </a:p>
          <a:p>
            <a:pPr rtl="1" algn="r">
              <a:lnSpc>
                <a:spcPct val="100000"/>
              </a:lnSpc>
              <a:spcAft>
                <a:spcPts val="0"/>
              </a:spcAft>
            </a:pPr>
            <a:r>
              <a:rPr sz="2200" b="0" lang="he-IL" altLang="en-US">
                <a:solidFill>
                  <a:srgbClr val="2B2B3A"/>
                </a:solidFill>
                <a:latin typeface="Arial"/>
                <a:ea typeface="Arial"/>
                <a:cs typeface="Arial"/>
              </a:rPr>
              <a:t>רָחָב צְרִיכָה לֶאֱסֹף אֶת כָּל הַמִּשְׁפָּחָה הַבַּיְתָה – וּמִי שֶׁבְּתוֹךְ הַבַּיִת יִנָּצֵל.</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7</a:t>
            </a:r>
          </a:p>
        </p:txBody>
      </p:sp>
      <p:sp>
        <p:nvSpPr>
          <p:cNvPr id="5" name="Rounded Rectangle 4"/>
          <p:cNvSpPr/>
          <p:nvPr/>
        </p:nvSpPr>
        <p:spPr>
          <a:xfrm>
            <a:off x="320040" y="429768"/>
            <a:ext cx="5313029" cy="585216"/>
          </a:xfrm>
          <a:prstGeom prst="roundRect">
            <a:avLst>
              <a:gd name="adj" fmla="val 50000"/>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313029"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נָכוֹן אוֹ לֹא נָכוֹן?</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רָחָב קָשְׁרָה אֶת חוּט הַשָּׁנִי עַל דֶּלֶת הַבַּיִת.</a:t>
            </a:r>
          </a:p>
        </p:txBody>
      </p:sp>
      <p:sp>
        <p:nvSpPr>
          <p:cNvPr id="9" name="Rounded Rectangle 8"/>
          <p:cNvSpPr/>
          <p:nvPr/>
        </p:nvSpPr>
        <p:spPr>
          <a:xfrm>
            <a:off x="6263640" y="3337560"/>
            <a:ext cx="5394960" cy="2514600"/>
          </a:xfrm>
          <a:prstGeom prst="roundRect">
            <a:avLst>
              <a:gd name="adj" fmla="val 20000"/>
            </a:avLst>
          </a:prstGeom>
          <a:solidFill>
            <a:srgbClr val="2F80ED"/>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נָכוֹן</a:t>
            </a:r>
          </a:p>
        </p:txBody>
      </p:sp>
      <p:sp>
        <p:nvSpPr>
          <p:cNvPr id="11" name="Rounded Rectangle 10"/>
          <p:cNvSpPr/>
          <p:nvPr/>
        </p:nvSpPr>
        <p:spPr>
          <a:xfrm>
            <a:off x="548640" y="3337560"/>
            <a:ext cx="5394960" cy="2514600"/>
          </a:xfrm>
          <a:prstGeom prst="roundRect">
            <a:avLst>
              <a:gd name="adj" fmla="val 20000"/>
            </a:avLst>
          </a:prstGeom>
          <a:solidFill>
            <a:srgbClr val="F2994A"/>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לֹא נָכוֹן</a:t>
            </a:r>
          </a:p>
        </p:txBody>
      </p:sp>
      <p:sp>
        <p:nvSpPr>
          <p:cNvPr id="13" name="Rounded Rectangle 1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15" name="Rectangle 1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7</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רָחָב קָשְׁרָה אֶת חוּט הַשָּׁנִי עַל דֶּלֶת הַבַּיִת.</a:t>
            </a:r>
          </a:p>
        </p:txBody>
      </p:sp>
      <p:sp>
        <p:nvSpPr>
          <p:cNvPr id="11" name="Rounded Rectangle 10"/>
          <p:cNvSpPr/>
          <p:nvPr/>
        </p:nvSpPr>
        <p:spPr>
          <a:xfrm>
            <a:off x="6263640" y="2514600"/>
            <a:ext cx="5394960" cy="1463040"/>
          </a:xfrm>
          <a:prstGeom prst="roundRect">
            <a:avLst>
              <a:gd name="adj" fmla="val 20000"/>
            </a:avLst>
          </a:prstGeom>
          <a:solidFill>
            <a:srgbClr val="D9DCE1"/>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8A8F99"/>
                </a:solidFill>
                <a:latin typeface="Arial"/>
                <a:ea typeface="Arial"/>
                <a:cs typeface="Arial"/>
              </a:rPr>
              <a:t>נָכוֹן</a:t>
            </a:r>
          </a:p>
        </p:txBody>
      </p:sp>
      <p:sp>
        <p:nvSpPr>
          <p:cNvPr id="13" name="Rounded Rectangle 12"/>
          <p:cNvSpPr/>
          <p:nvPr/>
        </p:nvSpPr>
        <p:spPr>
          <a:xfrm>
            <a:off x="548640" y="2514600"/>
            <a:ext cx="5394960" cy="1463040"/>
          </a:xfrm>
          <a:prstGeom prst="roundRect">
            <a:avLst>
              <a:gd name="adj" fmla="val 20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FFFFFF"/>
                </a:solidFill>
                <a:latin typeface="Arial"/>
                <a:ea typeface="Arial"/>
                <a:cs typeface="Arial"/>
              </a:rPr>
              <a:t>✓  לֹא נָכוֹן</a:t>
            </a:r>
          </a:p>
        </p:txBody>
      </p:sp>
      <p:sp>
        <p:nvSpPr>
          <p:cNvPr id="15" name="Rounded Rectangle 14"/>
          <p:cNvSpPr/>
          <p:nvPr/>
        </p:nvSpPr>
        <p:spPr>
          <a:xfrm>
            <a:off x="457200" y="4160520"/>
            <a:ext cx="11277295" cy="2011680"/>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42655" y="3941063"/>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2655" y="3941063"/>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כ״א</a:t>
            </a:r>
          </a:p>
        </p:txBody>
      </p:sp>
      <p:sp>
        <p:nvSpPr>
          <p:cNvPr id="18" name="TextBox 17"/>
          <p:cNvSpPr txBox="1"/>
          <p:nvPr/>
        </p:nvSpPr>
        <p:spPr>
          <a:xfrm>
            <a:off x="685800" y="4361688"/>
            <a:ext cx="10820095" cy="1755648"/>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וַתֹּאמֶר כְּדִבְרֵיכֶם כֶּן־הוּא וַתְּשַׁלְּחֵם וַיֵּלֵכוּ וַתִּקְשֹׁר אֶת־תִּקְוַת הַשָּׁנִי בַּחַלּוֹן׃</a:t>
            </a:r>
          </a:p>
          <a:p>
            <a:pPr rtl="1" algn="r">
              <a:lnSpc>
                <a:spcPct val="100000"/>
              </a:lnSpc>
              <a:spcAft>
                <a:spcPts val="0"/>
              </a:spcAft>
            </a:pPr>
            <a:r>
              <a:rPr sz="2200" b="0" lang="he-IL" altLang="en-US">
                <a:solidFill>
                  <a:srgbClr val="2B2B3A"/>
                </a:solidFill>
                <a:latin typeface="Arial"/>
                <a:ea typeface="Arial"/>
                <a:cs typeface="Arial"/>
              </a:rPr>
              <a:t>לֹא נָכוֹן! הִיא קָשְׁרָה אוֹתוֹ בַּחַלּוֹן – ״וַתִּקְשֹׁר אֶת־תִּקְוַת הַשָּׁנִי בַּחַלּוֹן״.</a:t>
            </a:r>
          </a:p>
        </p:txBody>
      </p:sp>
      <p:sp>
        <p:nvSpPr>
          <p:cNvPr id="19" name="Rounded Rectangle 18">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8</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כַּמָּה יָמִים יָשְׁבוּ הַמְרַגְּלִים בָּהָר?</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שבעה ימים</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יום אחד</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שלושה ימים</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ארבעים יום</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8</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כַּמָּה יָמִים יָשְׁבוּ הַמְרַגְּלִים בָּהָר?</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שבעה ימים</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יום אחד</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שלושה ימים</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ארבעים יום</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כ״ב</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וַיֵּלְכוּ וַיָּבֹאוּ הָהָרָה וַיֵּשְׁבוּ שָׁם שְׁלֹשֶׁת יָמִים עַד־שָׁבוּ הָרֹדְפִים וַיְבַקְשׁוּ הָרֹדְפִים בְּכָל־הַדֶּרֶךְ וְלֹא מָצָאוּ׃</a:t>
            </a:r>
          </a:p>
          <a:p>
            <a:pPr rtl="1" algn="r">
              <a:lnSpc>
                <a:spcPct val="100000"/>
              </a:lnSpc>
              <a:spcAft>
                <a:spcPts val="0"/>
              </a:spcAft>
            </a:pPr>
            <a:r>
              <a:rPr sz="2200" b="0" lang="he-IL" altLang="en-US">
                <a:solidFill>
                  <a:srgbClr val="2B2B3A"/>
                </a:solidFill>
                <a:latin typeface="Arial"/>
                <a:ea typeface="Arial"/>
                <a:cs typeface="Arial"/>
              </a:rPr>
              <a:t>הֵם הִתְחַבְּאוּ בָּהָר שְׁלֹשָׁה יָמִים, וְהָרוֹדְפִים חִפְּשׂוּ – וְלֹא מָצְאוּ אוֹתָם.</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9</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200" b="1" lang="he-IL" altLang="en-US">
                <a:solidFill>
                  <a:srgbClr val="23305E"/>
                </a:solidFill>
                <a:latin typeface="Arial"/>
                <a:ea typeface="Arial"/>
                <a:cs typeface="Arial"/>
              </a:rPr>
              <a:t>לְמִי סִפְּרוּ הַמְרַגְּלִים אֶת כָּל מָה שֶׁקָּרָה לָהֶם?</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ליהושע בן נון</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למלך יריחו</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למשה רבנו</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לרחב</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9</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לְמִי סִפְּרוּ הַמְרַגְּלִים אֶת כָּל מָה שֶׁקָּרָה לָהֶם?</a:t>
            </a:r>
          </a:p>
        </p:txBody>
      </p:sp>
      <p:sp>
        <p:nvSpPr>
          <p:cNvPr id="11" name="Rounded Rectangle 10"/>
          <p:cNvSpPr/>
          <p:nvPr/>
        </p:nvSpPr>
        <p:spPr>
          <a:xfrm>
            <a:off x="6236208"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ליהושע בן נון</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למלך יריחו</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למשה רבנו</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לרחב</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כ״ג</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וַיָּשֻׁבוּ שְׁנֵי הָאֲנָשִׁים וַיֵּרְדוּ מֵהָהָר וַיַּעַבְרוּ וַיָּבֹאוּ אֶל־יְהוֹשֻׁעַ בִּן־נוּן וַיְסַפְּרוּ־לוֹ אֵת כָּל־הַמֹּצְאוֹת אוֹתָם׃</a:t>
            </a:r>
          </a:p>
          <a:p>
            <a:pPr rtl="1" algn="r">
              <a:lnSpc>
                <a:spcPct val="100000"/>
              </a:lnSpc>
              <a:spcAft>
                <a:spcPts val="0"/>
              </a:spcAft>
            </a:pPr>
            <a:r>
              <a:rPr sz="2200" b="0" lang="he-IL" altLang="en-US">
                <a:solidFill>
                  <a:srgbClr val="2B2B3A"/>
                </a:solidFill>
                <a:latin typeface="Arial"/>
                <a:ea typeface="Arial"/>
                <a:cs typeface="Arial"/>
              </a:rPr>
              <a:t>הֵם יָרְדוּ מֵהָהָר, עָבְרוּ אֶת הַיַּרְדֵּן, וְחָזְרוּ אֶל יְהוֹשֻׁעַ – שֶׁשָּׁלַח אוֹתָם.</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10</a:t>
            </a:r>
          </a:p>
        </p:txBody>
      </p:sp>
      <p:sp>
        <p:nvSpPr>
          <p:cNvPr id="5" name="Rounded Rectangle 4"/>
          <p:cNvSpPr/>
          <p:nvPr/>
        </p:nvSpPr>
        <p:spPr>
          <a:xfrm>
            <a:off x="320040" y="429768"/>
            <a:ext cx="5925312" cy="585216"/>
          </a:xfrm>
          <a:prstGeom prst="roundRect">
            <a:avLst>
              <a:gd name="adj" fmla="val 50000"/>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925312"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הַשְׁלִימִי אֶת הַפָּסוּק</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הַמְרַגְּלִים אָמְרוּ לִיהוֹשֻׁעַ:
״כִּי־נָתַן ה׳ ________ אֶת־כָּל־הָאָרֶץ״</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לַמֶּלֶךְ</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הַיּוֹם</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בְּיָדֵנוּ</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לְאַבְרָהָם</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10</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הַמְרַגְּלִים אָמְרוּ לִיהוֹשֻׁעַ:
״כִּי־נָתַן ה׳ ________ אֶת־כָּל־הָאָרֶץ״</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לַמֶּלֶךְ</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הַיּוֹם</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בְּיָדֵנוּ</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לְאַבְרָהָם</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ב׳, פָּסוּק כ״ד</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וַיֹּאמְרוּ אֶל־יְהוֹשֻׁעַ כִּי־נָתַן ה׳ בְּיָדֵנוּ אֶת־כָּל־הָאָרֶץ וְגַם־נָמֹגוּ כָּל־יֹשְׁבֵי הָאָרֶץ מִפָּנֵינוּ׃</a:t>
            </a:r>
          </a:p>
          <a:p>
            <a:pPr rtl="1" algn="r">
              <a:lnSpc>
                <a:spcPct val="100000"/>
              </a:lnSpc>
              <a:spcAft>
                <a:spcPts val="0"/>
              </a:spcAft>
            </a:pPr>
            <a:r>
              <a:rPr sz="2200" b="0" lang="he-IL" altLang="en-US">
                <a:solidFill>
                  <a:srgbClr val="2B2B3A"/>
                </a:solidFill>
                <a:latin typeface="Arial"/>
                <a:ea typeface="Arial"/>
                <a:cs typeface="Arial"/>
              </a:rPr>
              <a:t>הַמְרַגְּלִים חָזְרוּ עִם בְּשׂוֹרָה טוֹבָה: ה׳ נָתַן לָנוּ אֶת הָאָרֶץ!</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731520" y="640080"/>
            <a:ext cx="1005840" cy="100584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515600" y="731520"/>
            <a:ext cx="822960" cy="82296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097280" y="4480560"/>
            <a:ext cx="731520" cy="73152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241280" y="4206240"/>
            <a:ext cx="1005840" cy="100584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2926080" y="457200"/>
            <a:ext cx="457200" cy="45720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8778240" y="457200"/>
            <a:ext cx="502920" cy="502920"/>
          </a:xfrm>
          <a:prstGeom prst="star5">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4572000" y="5394960"/>
            <a:ext cx="457200" cy="45720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315200" y="5394960"/>
            <a:ext cx="457200" cy="45720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1097280"/>
            <a:ext cx="9448495" cy="1737360"/>
          </a:xfrm>
          <a:prstGeom prst="rect">
            <a:avLst/>
          </a:prstGeom>
          <a:noFill/>
        </p:spPr>
        <p:txBody>
          <a:bodyPr wrap="square" tIns="27432" bIns="27432" anchor="ctr">
            <a:spAutoFit/>
          </a:bodyPr>
          <a:lstStyle/>
          <a:p>
            <a:pPr rtl="1" algn="ctr">
              <a:lnSpc>
                <a:spcPct val="100000"/>
              </a:lnSpc>
              <a:spcAft>
                <a:spcPts val="0"/>
              </a:spcAft>
            </a:pPr>
            <a:r>
              <a:rPr sz="9600" b="1" lang="he-IL" altLang="en-US">
                <a:solidFill>
                  <a:srgbClr val="FFC233"/>
                </a:solidFill>
                <a:latin typeface="Arial"/>
                <a:ea typeface="Arial"/>
                <a:cs typeface="Arial"/>
              </a:rPr>
              <a:t>כָּל הַכָּבוֹד!</a:t>
            </a:r>
          </a:p>
        </p:txBody>
      </p:sp>
      <p:sp>
        <p:nvSpPr>
          <p:cNvPr id="12" name="TextBox 11"/>
          <p:cNvSpPr txBox="1"/>
          <p:nvPr/>
        </p:nvSpPr>
        <p:spPr>
          <a:xfrm>
            <a:off x="1371600" y="2880360"/>
            <a:ext cx="9448495" cy="822960"/>
          </a:xfrm>
          <a:prstGeom prst="rect">
            <a:avLst/>
          </a:prstGeom>
          <a:noFill/>
        </p:spPr>
        <p:txBody>
          <a:bodyPr wrap="square" tIns="27432" bIns="27432" anchor="ctr">
            <a:spAutoFit/>
          </a:bodyPr>
          <a:lstStyle/>
          <a:p>
            <a:pPr rtl="1" algn="ctr">
              <a:lnSpc>
                <a:spcPct val="100000"/>
              </a:lnSpc>
              <a:spcAft>
                <a:spcPts val="0"/>
              </a:spcAft>
            </a:pPr>
            <a:r>
              <a:rPr sz="3600" b="1" lang="he-IL" altLang="en-US">
                <a:solidFill>
                  <a:srgbClr val="FFFFFF"/>
                </a:solidFill>
                <a:latin typeface="Arial"/>
                <a:ea typeface="Arial"/>
                <a:cs typeface="Arial"/>
              </a:rPr>
              <a:t>סִיַּמְנוּ אֶת פֶּרֶק ב׳ בְּנָבִיא יְהוֹשֻׁעַ!</a:t>
            </a:r>
          </a:p>
        </p:txBody>
      </p:sp>
      <p:sp>
        <p:nvSpPr>
          <p:cNvPr id="13" name="TextBox 12"/>
          <p:cNvSpPr txBox="1"/>
          <p:nvPr/>
        </p:nvSpPr>
        <p:spPr>
          <a:xfrm>
            <a:off x="1371600" y="3657600"/>
            <a:ext cx="9448495" cy="822960"/>
          </a:xfrm>
          <a:prstGeom prst="rect">
            <a:avLst/>
          </a:prstGeom>
          <a:noFill/>
        </p:spPr>
        <p:txBody>
          <a:bodyPr wrap="square" tIns="27432" bIns="27432" anchor="ctr">
            <a:spAutoFit/>
          </a:bodyPr>
          <a:lstStyle/>
          <a:p>
            <a:pPr rtl="1" algn="ctr">
              <a:lnSpc>
                <a:spcPct val="100000"/>
              </a:lnSpc>
              <a:spcAft>
                <a:spcPts val="0"/>
              </a:spcAft>
            </a:pPr>
            <a:r>
              <a:rPr sz="2800" b="0" lang="he-IL" altLang="en-US">
                <a:solidFill>
                  <a:srgbClr val="FFFFFF"/>
                </a:solidFill>
                <a:latin typeface="Arial"/>
                <a:ea typeface="Arial"/>
                <a:cs typeface="Arial"/>
              </a:rPr>
              <a:t>״כִּי נָתַן ה׳ בְּיָדֵנוּ אֶת כָּל הָאָרֶץ!״</a:t>
            </a:r>
          </a:p>
        </p:txBody>
      </p:sp>
      <p:sp>
        <p:nvSpPr>
          <p:cNvPr id="14" name="Rounded Rectangle 13">
            <a:hlinkClick action="ppaction://hlinksldjump" r:id="rId3"/>
          </p:cNvPr>
          <p:cNvSpPr/>
          <p:nvPr/>
        </p:nvSpPr>
        <p:spPr>
          <a:xfrm>
            <a:off x="228600" y="6236208"/>
            <a:ext cx="1234440" cy="420624"/>
          </a:xfrm>
          <a:prstGeom prst="roundRect">
            <a:avLst>
              <a:gd name="adj" fmla="val 50000"/>
            </a:avLst>
          </a:prstGeom>
          <a:solidFill>
            <a:srgbClr val="2E1A5E"/>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FFFFFF"/>
                </a:solidFill>
                <a:latin typeface="Arial"/>
                <a:ea typeface="Arial"/>
                <a:cs typeface="Arial"/>
              </a:rPr>
              <a:t>⌂ תַּפְרִיט</a:t>
            </a:r>
          </a:p>
        </p:txBody>
      </p:sp>
      <p:sp>
        <p:nvSpPr>
          <p:cNvPr id="16" name="Rectangle 15"/>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